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sugerido (10–15 segundos):
“Nuestro proyecto APT consiste en desarrollar una Plataforma Integral de Agendamiento y Gestión de Clientes para Nicolett Studio Fantasy, un centro de belleza ubicado en Buin. La propuesta busca digitalizar el proceso de reservas y fortalecer la gestión y fidelización de sus clientas.”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sugerido (55–65 segundos):
“El problema que identificamos no es simplemente la ausencia de una página web. El problema está en la gestión del proceso de atención. Actualmente el agendamiento no está completamente centralizado, la información de las clientas y sus atenciones se encuentra dispersa y no existe un seguimiento automatizado posterior a cada servicio. Esto es especialmente relevante porque Nicolett atiende segmentos con restricciones de tiempo, como trabajadoras con turnos o madres sin red de apoyo. Como consecuencia, disminuye la capacidad de gestionar reservas, conocer el historial de cada clienta y generar nuevas oportunidades de atención y fidelización. Por eso, la necesidad central es integrar reservas, historial y seguimiento en una única plataforma web flexible.”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sugerido (40–50 segundos):
“A partir de esa problemática definimos nuestro objetivo general: desarrollar e implementar una plataforma web que integre el agendamiento inteligente con la gestión de clientes mediante un CRM. La solución busca centralizar información que hoy se encuentra dispersa, facilitar la administración de la disponibilidad y las reservas, y disponer de información histórica que permita entregar una atención más personalizada. En síntesis, los tres ejes de la solución son agendamiento, gestión de clientes y fidelización.”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Guion sugerido (55–65 segundos):
“Para alcanzar el objetivo general estructuramos el proyecto en cinco objetivos específicos que siguen el ciclo lógico de construcción de la solución. Primero, levantaremos y documentaremos los requerimientos funcionales y no funcionales. Segundo, diseñaremos el modelo relacional que estructurará la información de clientes, servicios, disponibilidad e historial de atención. Tercero, construiremos una interfaz web responsiva orientada principalmente a dispositivos móviles. Cuarto, desarrollaremos el Back-end y las APIs responsables de implementar las reglas del negocio e integrar la aplicación con la base de datos. Finalmente, ejecutaremos pruebas de calidad para validar la integridad, la usabilidad y el cumplimiento de los requerimientos. En definitiva, buscamos transformar un proceso manual y disperso en una solución digital centralizada que mejore la gestión y fidelización de Nicolett Studio Fantasy.”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BF7F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7F2"/>
          </a:solidFill>
          <a:ln w="12700">
            <a:solidFill>
              <a:srgbClr val="FBF7F2"/>
            </a:solidFill>
            <a:prstDash val="solid"/>
          </a:ln>
        </p:spPr>
      </p:sp>
      <p:sp>
        <p:nvSpPr>
          <p:cNvPr id="3" name="Shape 1"/>
          <p:cNvSpPr/>
          <p:nvPr/>
        </p:nvSpPr>
        <p:spPr>
          <a:xfrm>
            <a:off x="320040" y="292608"/>
            <a:ext cx="1920240" cy="0"/>
          </a:xfrm>
          <a:prstGeom prst="line">
            <a:avLst/>
          </a:prstGeom>
          <a:noFill/>
          <a:ln w="13970">
            <a:solidFill>
              <a:srgbClr val="C7A36B"/>
            </a:solidFill>
            <a:prstDash val="solid"/>
          </a:ln>
        </p:spPr>
      </p:sp>
      <p:sp>
        <p:nvSpPr>
          <p:cNvPr id="4" name="Shape 2"/>
          <p:cNvSpPr/>
          <p:nvPr/>
        </p:nvSpPr>
        <p:spPr>
          <a:xfrm>
            <a:off x="9948672" y="6510528"/>
            <a:ext cx="1920240" cy="0"/>
          </a:xfrm>
          <a:prstGeom prst="line">
            <a:avLst/>
          </a:prstGeom>
          <a:noFill/>
          <a:ln w="13970">
            <a:solidFill>
              <a:srgbClr val="C7A36B"/>
            </a:solidFill>
            <a:prstDash val="solid"/>
          </a:ln>
        </p:spPr>
      </p:sp>
      <p:sp>
        <p:nvSpPr>
          <p:cNvPr id="5" name="Text 3"/>
          <p:cNvSpPr/>
          <p:nvPr/>
        </p:nvSpPr>
        <p:spPr>
          <a:xfrm>
            <a:off x="457200" y="6473952"/>
            <a:ext cx="3017520" cy="182880"/>
          </a:xfrm>
          <a:prstGeom prst="rect">
            <a:avLst/>
          </a:prstGeom>
          <a:noFill/>
          <a:ln/>
        </p:spPr>
        <p:txBody>
          <a:bodyPr wrap="square" lIns="0" tIns="0" rIns="0" bIns="0" rtlCol="0" anchor="ctr"/>
          <a:lstStyle/>
          <a:p>
            <a:pPr indent="0" marL="0">
              <a:buNone/>
            </a:pPr>
            <a:r>
              <a:rPr lang="en-US" sz="700" spc="150" kern="0" dirty="0">
                <a:solidFill>
                  <a:srgbClr val="A67C43"/>
                </a:solidFill>
                <a:latin typeface="Arial" pitchFamily="34" charset="0"/>
                <a:ea typeface="Arial" pitchFamily="34" charset="-122"/>
                <a:cs typeface="Arial" pitchFamily="34" charset="-120"/>
              </a:rPr>
              <a:t>NICOLETT  •  STUDIO FANTASY</a:t>
            </a:r>
            <a:endParaRPr lang="en-US" sz="700" dirty="0"/>
          </a:p>
        </p:txBody>
      </p:sp>
      <p:sp>
        <p:nvSpPr>
          <p:cNvPr id="6" name="Text 4"/>
          <p:cNvSpPr/>
          <p:nvPr/>
        </p:nvSpPr>
        <p:spPr>
          <a:xfrm>
            <a:off x="10241280" y="6473952"/>
            <a:ext cx="1463040" cy="182880"/>
          </a:xfrm>
          <a:prstGeom prst="rect">
            <a:avLst/>
          </a:prstGeom>
          <a:noFill/>
          <a:ln/>
        </p:spPr>
        <p:txBody>
          <a:bodyPr wrap="square" lIns="0" tIns="0" rIns="0" bIns="0" rtlCol="0" anchor="ctr"/>
          <a:lstStyle/>
          <a:p>
            <a:pPr algn="r" indent="0" marL="0">
              <a:buNone/>
            </a:pPr>
            <a:r>
              <a:rPr lang="en-US" sz="700" spc="140" kern="0" dirty="0">
                <a:solidFill>
                  <a:srgbClr val="A67C43"/>
                </a:solidFill>
                <a:latin typeface="Arial" pitchFamily="34" charset="0"/>
                <a:ea typeface="Arial" pitchFamily="34" charset="-122"/>
                <a:cs typeface="Arial" pitchFamily="34" charset="-120"/>
              </a:rPr>
              <a:t>PROYECTO APT</a:t>
            </a:r>
            <a:endParaRPr lang="en-US" sz="700" dirty="0"/>
          </a:p>
        </p:txBody>
      </p:sp>
      <p:sp>
        <p:nvSpPr>
          <p:cNvPr id="25" name="Slide Number Placeholder 0"/>
          <p:cNvSpPr>
            <a:spLocks noGrp="1"/>
          </p:cNvSpPr>
          <p:nvPr>
            <p:ph type="sldNum" sz="quarter" idx="4294967295"/>
          </p:nvPr>
        </p:nvSpPr>
        <p:spPr>
          <a:xfrm>
            <a:off x="11759184" y="228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B4905D"/>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9184" y="228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B4905D"/>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nicolett_media/ppt/media/image3.png">    </p:cNvPr>
          <p:cNvPicPr>
            <a:picLocks noChangeAspect="1"/>
          </p:cNvPicPr>
          <p:nvPr/>
        </p:nvPicPr>
        <p:blipFill>
          <a:blip r:embed="rId1"/>
          <a:stretch>
            <a:fillRect/>
          </a:stretch>
        </p:blipFill>
        <p:spPr>
          <a:xfrm>
            <a:off x="7635240" y="0"/>
            <a:ext cx="4553712" cy="6858000"/>
          </a:xfrm>
          <a:prstGeom prst="rect">
            <a:avLst/>
          </a:prstGeom>
        </p:spPr>
      </p:pic>
      <p:sp>
        <p:nvSpPr>
          <p:cNvPr id="3" name="Shape 0"/>
          <p:cNvSpPr/>
          <p:nvPr/>
        </p:nvSpPr>
        <p:spPr>
          <a:xfrm>
            <a:off x="7635240" y="0"/>
            <a:ext cx="4553712" cy="6858000"/>
          </a:xfrm>
          <a:prstGeom prst="rect">
            <a:avLst/>
          </a:prstGeom>
          <a:solidFill>
            <a:srgbClr val="FFF9F3">
              <a:alpha val="72000"/>
            </a:srgbClr>
          </a:solidFill>
          <a:ln w="12700">
            <a:solidFill>
              <a:srgbClr val="FFF9F3">
                <a:alpha val="0"/>
              </a:srgbClr>
            </a:solidFill>
            <a:prstDash val="solid"/>
          </a:ln>
        </p:spPr>
      </p:sp>
      <p:sp>
        <p:nvSpPr>
          <p:cNvPr id="4" name="Shape 1"/>
          <p:cNvSpPr/>
          <p:nvPr/>
        </p:nvSpPr>
        <p:spPr>
          <a:xfrm>
            <a:off x="502920" y="475488"/>
            <a:ext cx="1024128" cy="310896"/>
          </a:xfrm>
          <a:prstGeom prst="roundRect">
            <a:avLst/>
          </a:prstGeom>
          <a:solidFill>
            <a:srgbClr val="F3E6DC"/>
          </a:solidFill>
          <a:ln w="12700">
            <a:solidFill>
              <a:srgbClr val="F3E6DC"/>
            </a:solidFill>
            <a:prstDash val="solid"/>
          </a:ln>
        </p:spPr>
      </p:sp>
      <p:sp>
        <p:nvSpPr>
          <p:cNvPr id="5" name="Text 2"/>
          <p:cNvSpPr/>
          <p:nvPr/>
        </p:nvSpPr>
        <p:spPr>
          <a:xfrm>
            <a:off x="704088" y="566928"/>
            <a:ext cx="640080" cy="109728"/>
          </a:xfrm>
          <a:prstGeom prst="rect">
            <a:avLst/>
          </a:prstGeom>
          <a:noFill/>
          <a:ln/>
        </p:spPr>
        <p:txBody>
          <a:bodyPr wrap="square" lIns="0" tIns="0" rIns="0" bIns="0" rtlCol="0" anchor="ctr"/>
          <a:lstStyle/>
          <a:p>
            <a:pPr algn="ctr" indent="0" marL="0">
              <a:buNone/>
            </a:pPr>
            <a:r>
              <a:rPr lang="en-US" sz="750" b="1" spc="140" kern="0" dirty="0">
                <a:solidFill>
                  <a:srgbClr val="906B3E"/>
                </a:solidFill>
                <a:latin typeface="Arial" pitchFamily="34" charset="0"/>
                <a:ea typeface="Arial" pitchFamily="34" charset="-122"/>
                <a:cs typeface="Arial" pitchFamily="34" charset="-120"/>
              </a:rPr>
              <a:t>PROYECTO APT</a:t>
            </a:r>
            <a:endParaRPr lang="en-US" sz="750" dirty="0"/>
          </a:p>
        </p:txBody>
      </p:sp>
      <p:sp>
        <p:nvSpPr>
          <p:cNvPr id="6" name="Text 3"/>
          <p:cNvSpPr/>
          <p:nvPr/>
        </p:nvSpPr>
        <p:spPr>
          <a:xfrm>
            <a:off x="658368" y="1234440"/>
            <a:ext cx="6812280" cy="2057400"/>
          </a:xfrm>
          <a:prstGeom prst="rect">
            <a:avLst/>
          </a:prstGeom>
          <a:noFill/>
          <a:ln/>
        </p:spPr>
        <p:txBody>
          <a:bodyPr wrap="square" lIns="254" tIns="254" rIns="254" bIns="254" rtlCol="0" anchor="ctr">
            <a:normAutofit/>
          </a:bodyPr>
          <a:lstStyle/>
          <a:p>
            <a:pPr indent="0" marL="0">
              <a:buNone/>
            </a:pPr>
            <a:r>
              <a:rPr lang="en-US" sz="2900" b="1" dirty="0">
                <a:solidFill>
                  <a:srgbClr val="1F2225"/>
                </a:solidFill>
                <a:latin typeface="Georgia" pitchFamily="34" charset="0"/>
                <a:ea typeface="Georgia" pitchFamily="34" charset="-122"/>
                <a:cs typeface="Georgia" pitchFamily="34" charset="-120"/>
              </a:rPr>
              <a:t>Plataforma Integral de</a:t>
            </a:r>
            <a:endParaRPr lang="en-US" sz="2900" dirty="0"/>
          </a:p>
          <a:p>
            <a:pPr indent="0" marL="0">
              <a:buNone/>
            </a:pPr>
            <a:r>
              <a:rPr lang="en-US" sz="2900" b="1" dirty="0">
                <a:solidFill>
                  <a:srgbClr val="1F2225"/>
                </a:solidFill>
                <a:latin typeface="Georgia" pitchFamily="34" charset="0"/>
                <a:ea typeface="Georgia" pitchFamily="34" charset="-122"/>
                <a:cs typeface="Georgia" pitchFamily="34" charset="-120"/>
              </a:rPr>
              <a:t>Agendamiento y Gestión</a:t>
            </a:r>
            <a:endParaRPr lang="en-US" sz="2900" dirty="0"/>
          </a:p>
          <a:p>
            <a:pPr indent="0" marL="0">
              <a:buNone/>
            </a:pPr>
            <a:r>
              <a:rPr lang="en-US" sz="2900" b="1" dirty="0">
                <a:solidFill>
                  <a:srgbClr val="1F2225"/>
                </a:solidFill>
                <a:latin typeface="Georgia" pitchFamily="34" charset="0"/>
                <a:ea typeface="Georgia" pitchFamily="34" charset="-122"/>
                <a:cs typeface="Georgia" pitchFamily="34" charset="-120"/>
              </a:rPr>
              <a:t>de Clientes (CRM)</a:t>
            </a:r>
            <a:endParaRPr lang="en-US" sz="2900" dirty="0"/>
          </a:p>
        </p:txBody>
      </p:sp>
      <p:sp>
        <p:nvSpPr>
          <p:cNvPr id="7" name="Shape 4"/>
          <p:cNvSpPr/>
          <p:nvPr/>
        </p:nvSpPr>
        <p:spPr>
          <a:xfrm>
            <a:off x="685800" y="3529584"/>
            <a:ext cx="1143000" cy="0"/>
          </a:xfrm>
          <a:prstGeom prst="line">
            <a:avLst/>
          </a:prstGeom>
          <a:noFill/>
          <a:ln w="16510">
            <a:solidFill>
              <a:srgbClr val="B58A4C"/>
            </a:solidFill>
            <a:prstDash val="solid"/>
          </a:ln>
        </p:spPr>
      </p:sp>
      <p:sp>
        <p:nvSpPr>
          <p:cNvPr id="8" name="Text 5"/>
          <p:cNvSpPr/>
          <p:nvPr/>
        </p:nvSpPr>
        <p:spPr>
          <a:xfrm>
            <a:off x="685800" y="3675888"/>
            <a:ext cx="5852160" cy="457200"/>
          </a:xfrm>
          <a:prstGeom prst="rect">
            <a:avLst/>
          </a:prstGeom>
          <a:noFill/>
          <a:ln/>
        </p:spPr>
        <p:txBody>
          <a:bodyPr wrap="square" lIns="0" tIns="0" rIns="0" bIns="0" rtlCol="0" anchor="ctr"/>
          <a:lstStyle/>
          <a:p>
            <a:pPr indent="0" marL="0">
              <a:buNone/>
            </a:pPr>
            <a:r>
              <a:rPr lang="en-US" sz="2300" i="1" dirty="0">
                <a:solidFill>
                  <a:srgbClr val="B58A4C"/>
                </a:solidFill>
                <a:latin typeface="Georgia" pitchFamily="34" charset="0"/>
                <a:ea typeface="Georgia" pitchFamily="34" charset="-122"/>
                <a:cs typeface="Georgia" pitchFamily="34" charset="-120"/>
              </a:rPr>
              <a:t>Nicolett Studio Fantasy</a:t>
            </a:r>
            <a:endParaRPr lang="en-US" sz="2300" dirty="0"/>
          </a:p>
        </p:txBody>
      </p:sp>
      <p:sp>
        <p:nvSpPr>
          <p:cNvPr id="9" name="Text 6"/>
          <p:cNvSpPr/>
          <p:nvPr/>
        </p:nvSpPr>
        <p:spPr>
          <a:xfrm>
            <a:off x="704088" y="4242816"/>
            <a:ext cx="3291840" cy="274320"/>
          </a:xfrm>
          <a:prstGeom prst="rect">
            <a:avLst/>
          </a:prstGeom>
          <a:noFill/>
          <a:ln/>
        </p:spPr>
        <p:txBody>
          <a:bodyPr wrap="square" lIns="0" tIns="0" rIns="0" bIns="0" rtlCol="0" anchor="ctr"/>
          <a:lstStyle/>
          <a:p>
            <a:pPr indent="0" marL="0">
              <a:buNone/>
            </a:pPr>
            <a:r>
              <a:rPr lang="en-US" sz="1300" dirty="0">
                <a:solidFill>
                  <a:srgbClr val="1F2225"/>
                </a:solidFill>
                <a:latin typeface="Arial" pitchFamily="34" charset="0"/>
                <a:ea typeface="Arial" pitchFamily="34" charset="-122"/>
                <a:cs typeface="Arial" pitchFamily="34" charset="-120"/>
              </a:rPr>
              <a:t>Ingeniería en Informática</a:t>
            </a:r>
            <a:endParaRPr lang="en-US" sz="1300" dirty="0"/>
          </a:p>
        </p:txBody>
      </p:sp>
      <p:sp>
        <p:nvSpPr>
          <p:cNvPr id="10" name="Text 7"/>
          <p:cNvSpPr/>
          <p:nvPr/>
        </p:nvSpPr>
        <p:spPr>
          <a:xfrm>
            <a:off x="704088" y="4709160"/>
            <a:ext cx="6080760" cy="384048"/>
          </a:xfrm>
          <a:prstGeom prst="rect">
            <a:avLst/>
          </a:prstGeom>
          <a:noFill/>
          <a:ln/>
        </p:spPr>
        <p:txBody>
          <a:bodyPr wrap="square" lIns="0" tIns="0" rIns="0" bIns="0" rtlCol="0" anchor="ctr"/>
          <a:lstStyle/>
          <a:p>
            <a:pPr indent="0" marL="0">
              <a:buNone/>
            </a:pPr>
            <a:r>
              <a:rPr lang="en-US" sz="1200" dirty="0">
                <a:solidFill>
                  <a:srgbClr val="6C655E"/>
                </a:solidFill>
                <a:latin typeface="Arial" pitchFamily="34" charset="0"/>
                <a:ea typeface="Arial" pitchFamily="34" charset="-122"/>
                <a:cs typeface="Arial" pitchFamily="34" charset="-120"/>
              </a:rPr>
              <a:t>Digitalización del proceso de reservas y fidelización de clientes</a:t>
            </a:r>
            <a:endParaRPr lang="en-US" sz="1200" dirty="0"/>
          </a:p>
        </p:txBody>
      </p:sp>
      <p:sp>
        <p:nvSpPr>
          <p:cNvPr id="11" name="Shape 8"/>
          <p:cNvSpPr/>
          <p:nvPr/>
        </p:nvSpPr>
        <p:spPr>
          <a:xfrm>
            <a:off x="685800" y="5349240"/>
            <a:ext cx="6080760" cy="658368"/>
          </a:xfrm>
          <a:prstGeom prst="roundRect">
            <a:avLst>
              <a:gd name="adj" fmla="val 11111"/>
            </a:avLst>
          </a:prstGeom>
          <a:solidFill>
            <a:srgbClr val="F8EFE8"/>
          </a:solidFill>
          <a:ln w="11430">
            <a:solidFill>
              <a:srgbClr val="F8EFE8"/>
            </a:solidFill>
            <a:prstDash val="solid"/>
          </a:ln>
        </p:spPr>
      </p:sp>
      <p:sp>
        <p:nvSpPr>
          <p:cNvPr id="12" name="Text 9"/>
          <p:cNvSpPr/>
          <p:nvPr/>
        </p:nvSpPr>
        <p:spPr>
          <a:xfrm>
            <a:off x="960120" y="5559552"/>
            <a:ext cx="5486400" cy="182880"/>
          </a:xfrm>
          <a:prstGeom prst="rect">
            <a:avLst/>
          </a:prstGeom>
          <a:noFill/>
          <a:ln/>
        </p:spPr>
        <p:txBody>
          <a:bodyPr wrap="square" lIns="0" tIns="0" rIns="0" bIns="0" rtlCol="0" anchor="ctr"/>
          <a:lstStyle/>
          <a:p>
            <a:pPr algn="ctr" indent="0" marL="0">
              <a:buNone/>
            </a:pPr>
            <a:r>
              <a:rPr lang="en-US" sz="1100" b="1" spc="60" kern="0" dirty="0">
                <a:solidFill>
                  <a:srgbClr val="8B6638"/>
                </a:solidFill>
                <a:latin typeface="Arial" pitchFamily="34" charset="0"/>
                <a:ea typeface="Arial" pitchFamily="34" charset="-122"/>
                <a:cs typeface="Arial" pitchFamily="34" charset="-120"/>
              </a:rPr>
              <a:t>Buin  •  Plataforma web  •  CRM</a:t>
            </a:r>
            <a:endParaRPr lang="en-US" sz="1100" dirty="0"/>
          </a:p>
        </p:txBody>
      </p:sp>
      <p:sp>
        <p:nvSpPr>
          <p:cNvPr id="25" name="Slide Number Placeholder 0"/>
          <p:cNvSpPr>
            <a:spLocks noGrp="1"/>
          </p:cNvSpPr>
          <p:nvPr>
            <p:ph type="sldNum" sz="quarter" idx="4294967295"/>
          </p:nvPr>
        </p:nvSpPr>
        <p:spPr>
          <a:xfrm>
            <a:off x="11759184" y="228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B4905D"/>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85800" y="502920"/>
            <a:ext cx="10789920" cy="502920"/>
          </a:xfrm>
          <a:prstGeom prst="rect">
            <a:avLst/>
          </a:prstGeom>
          <a:noFill/>
          <a:ln/>
        </p:spPr>
        <p:txBody>
          <a:bodyPr wrap="square" lIns="0" tIns="0" rIns="0" bIns="0" rtlCol="0" anchor="ctr"/>
          <a:lstStyle/>
          <a:p>
            <a:pPr indent="0" marL="0">
              <a:buNone/>
            </a:pPr>
            <a:r>
              <a:rPr lang="en-US" sz="2700" b="1" dirty="0">
                <a:solidFill>
                  <a:srgbClr val="1F2225"/>
                </a:solidFill>
                <a:latin typeface="Georgia" pitchFamily="34" charset="0"/>
                <a:ea typeface="Georgia" pitchFamily="34" charset="-122"/>
                <a:cs typeface="Georgia" pitchFamily="34" charset="-120"/>
              </a:rPr>
              <a:t>Planteamiento del problema</a:t>
            </a:r>
            <a:endParaRPr lang="en-US" sz="2700" dirty="0"/>
          </a:p>
        </p:txBody>
      </p:sp>
      <p:sp>
        <p:nvSpPr>
          <p:cNvPr id="3" name="Shape 1"/>
          <p:cNvSpPr/>
          <p:nvPr/>
        </p:nvSpPr>
        <p:spPr>
          <a:xfrm>
            <a:off x="685800" y="1115568"/>
            <a:ext cx="1645920" cy="0"/>
          </a:xfrm>
          <a:prstGeom prst="line">
            <a:avLst/>
          </a:prstGeom>
          <a:noFill/>
          <a:ln w="15875">
            <a:solidFill>
              <a:srgbClr val="B58A4C"/>
            </a:solidFill>
            <a:prstDash val="solid"/>
          </a:ln>
        </p:spPr>
      </p:sp>
      <p:sp>
        <p:nvSpPr>
          <p:cNvPr id="4" name="Text 2"/>
          <p:cNvSpPr/>
          <p:nvPr/>
        </p:nvSpPr>
        <p:spPr>
          <a:xfrm>
            <a:off x="2450592" y="941832"/>
            <a:ext cx="7955280" cy="256032"/>
          </a:xfrm>
          <a:prstGeom prst="rect">
            <a:avLst/>
          </a:prstGeom>
          <a:noFill/>
          <a:ln/>
        </p:spPr>
        <p:txBody>
          <a:bodyPr wrap="square" lIns="0" tIns="0" rIns="0" bIns="0" rtlCol="0" anchor="ctr"/>
          <a:lstStyle/>
          <a:p>
            <a:pPr indent="0" marL="0">
              <a:buNone/>
            </a:pPr>
            <a:r>
              <a:rPr lang="en-US" sz="1200" i="1" dirty="0">
                <a:solidFill>
                  <a:srgbClr val="8D6A3A"/>
                </a:solidFill>
                <a:latin typeface="Georgia" pitchFamily="34" charset="0"/>
                <a:ea typeface="Georgia" pitchFamily="34" charset="-122"/>
                <a:cs typeface="Georgia" pitchFamily="34" charset="-120"/>
              </a:rPr>
              <a:t>Situación actual de Nicolett Studio Fantasy</a:t>
            </a:r>
            <a:endParaRPr lang="en-US" sz="1200" dirty="0"/>
          </a:p>
        </p:txBody>
      </p:sp>
      <p:sp>
        <p:nvSpPr>
          <p:cNvPr id="5" name="Shape 3"/>
          <p:cNvSpPr/>
          <p:nvPr/>
        </p:nvSpPr>
        <p:spPr>
          <a:xfrm>
            <a:off x="658368" y="1600200"/>
            <a:ext cx="2587752" cy="3090672"/>
          </a:xfrm>
          <a:prstGeom prst="roundRect">
            <a:avLst>
              <a:gd name="adj" fmla="val 2827"/>
            </a:avLst>
          </a:prstGeom>
          <a:solidFill>
            <a:srgbClr val="FFFDFC"/>
          </a:solidFill>
          <a:ln w="11430">
            <a:solidFill>
              <a:srgbClr val="E4D4C3"/>
            </a:solidFill>
            <a:prstDash val="solid"/>
          </a:ln>
        </p:spPr>
      </p:sp>
      <p:sp>
        <p:nvSpPr>
          <p:cNvPr id="6" name="Shape 4"/>
          <p:cNvSpPr/>
          <p:nvPr/>
        </p:nvSpPr>
        <p:spPr>
          <a:xfrm>
            <a:off x="822960" y="1435608"/>
            <a:ext cx="429768" cy="429768"/>
          </a:xfrm>
          <a:prstGeom prst="ellipse">
            <a:avLst/>
          </a:prstGeom>
          <a:solidFill>
            <a:srgbClr val="B58A4C"/>
          </a:solidFill>
          <a:ln w="12700">
            <a:solidFill>
              <a:srgbClr val="B58A4C"/>
            </a:solidFill>
            <a:prstDash val="solid"/>
          </a:ln>
        </p:spPr>
      </p:sp>
      <p:sp>
        <p:nvSpPr>
          <p:cNvPr id="7" name="Text 5"/>
          <p:cNvSpPr/>
          <p:nvPr/>
        </p:nvSpPr>
        <p:spPr>
          <a:xfrm>
            <a:off x="822960" y="1499616"/>
            <a:ext cx="4297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01</a:t>
            </a:r>
            <a:endParaRPr lang="en-US" sz="1000" dirty="0"/>
          </a:p>
        </p:txBody>
      </p:sp>
      <p:sp>
        <p:nvSpPr>
          <p:cNvPr id="8" name="Shape 6"/>
          <p:cNvSpPr/>
          <p:nvPr/>
        </p:nvSpPr>
        <p:spPr>
          <a:xfrm>
            <a:off x="1664208" y="1929384"/>
            <a:ext cx="566928" cy="566928"/>
          </a:xfrm>
          <a:prstGeom prst="ellipse">
            <a:avLst/>
          </a:prstGeom>
          <a:solidFill>
            <a:srgbClr val="F8EFE8"/>
          </a:solidFill>
          <a:ln w="12700">
            <a:solidFill>
              <a:srgbClr val="F8EFE8"/>
            </a:solidFill>
            <a:prstDash val="solid"/>
          </a:ln>
        </p:spPr>
      </p:sp>
      <p:sp>
        <p:nvSpPr>
          <p:cNvPr id="9" name="Text 7"/>
          <p:cNvSpPr/>
          <p:nvPr/>
        </p:nvSpPr>
        <p:spPr>
          <a:xfrm>
            <a:off x="1664208" y="2020824"/>
            <a:ext cx="566928" cy="329184"/>
          </a:xfrm>
          <a:prstGeom prst="rect">
            <a:avLst/>
          </a:prstGeom>
          <a:noFill/>
          <a:ln/>
        </p:spPr>
        <p:txBody>
          <a:bodyPr wrap="square" lIns="0" tIns="0" rIns="0" bIns="0" rtlCol="0" anchor="ctr"/>
          <a:lstStyle/>
          <a:p>
            <a:pPr algn="ctr" indent="0" marL="0">
              <a:buNone/>
            </a:pPr>
            <a:r>
              <a:rPr lang="en-US" sz="2000" b="1" dirty="0">
                <a:solidFill>
                  <a:srgbClr val="B58A4C"/>
                </a:solidFill>
                <a:latin typeface="Arial" pitchFamily="34" charset="0"/>
                <a:ea typeface="Arial" pitchFamily="34" charset="-122"/>
                <a:cs typeface="Arial" pitchFamily="34" charset="-120"/>
              </a:rPr>
              <a:t>A</a:t>
            </a:r>
            <a:endParaRPr lang="en-US" sz="2000" dirty="0"/>
          </a:p>
        </p:txBody>
      </p:sp>
      <p:sp>
        <p:nvSpPr>
          <p:cNvPr id="10" name="Text 8"/>
          <p:cNvSpPr/>
          <p:nvPr/>
        </p:nvSpPr>
        <p:spPr>
          <a:xfrm>
            <a:off x="914400" y="2606040"/>
            <a:ext cx="2075688" cy="182880"/>
          </a:xfrm>
          <a:prstGeom prst="rect">
            <a:avLst/>
          </a:prstGeom>
          <a:noFill/>
          <a:ln/>
        </p:spPr>
        <p:txBody>
          <a:bodyPr wrap="square" lIns="0" tIns="0" rIns="0" bIns="0" rtlCol="0" anchor="ctr"/>
          <a:lstStyle/>
          <a:p>
            <a:pPr algn="ctr" indent="0" marL="0">
              <a:buNone/>
            </a:pPr>
            <a:r>
              <a:rPr lang="en-US" sz="850" b="1" spc="120" kern="0" dirty="0">
                <a:solidFill>
                  <a:srgbClr val="B58A4C"/>
                </a:solidFill>
                <a:latin typeface="Arial" pitchFamily="34" charset="0"/>
                <a:ea typeface="Arial" pitchFamily="34" charset="-122"/>
                <a:cs typeface="Arial" pitchFamily="34" charset="-120"/>
              </a:rPr>
              <a:t>AGENDAMIENTO</a:t>
            </a:r>
            <a:endParaRPr lang="en-US" sz="850" dirty="0"/>
          </a:p>
        </p:txBody>
      </p:sp>
      <p:sp>
        <p:nvSpPr>
          <p:cNvPr id="11" name="Text 9"/>
          <p:cNvSpPr/>
          <p:nvPr/>
        </p:nvSpPr>
        <p:spPr>
          <a:xfrm>
            <a:off x="886968" y="2898648"/>
            <a:ext cx="2130552" cy="658368"/>
          </a:xfrm>
          <a:prstGeom prst="rect">
            <a:avLst/>
          </a:prstGeom>
          <a:noFill/>
          <a:ln/>
        </p:spPr>
        <p:txBody>
          <a:bodyPr wrap="square" lIns="254" tIns="254" rIns="254" bIns="254" rtlCol="0" anchor="ctr">
            <a:normAutofit/>
          </a:bodyPr>
          <a:lstStyle/>
          <a:p>
            <a:pPr algn="ctr" indent="0" marL="0">
              <a:buNone/>
            </a:pPr>
            <a:r>
              <a:rPr lang="en-US" sz="1600" b="1" dirty="0">
                <a:solidFill>
                  <a:srgbClr val="1F2225"/>
                </a:solidFill>
                <a:latin typeface="Georgia" pitchFamily="34" charset="0"/>
                <a:ea typeface="Georgia" pitchFamily="34" charset="-122"/>
                <a:cs typeface="Georgia" pitchFamily="34" charset="-120"/>
              </a:rPr>
              <a:t>Manual y no centralizado</a:t>
            </a:r>
            <a:endParaRPr lang="en-US" sz="1600" dirty="0"/>
          </a:p>
        </p:txBody>
      </p:sp>
      <p:sp>
        <p:nvSpPr>
          <p:cNvPr id="12" name="Shape 10"/>
          <p:cNvSpPr/>
          <p:nvPr/>
        </p:nvSpPr>
        <p:spPr>
          <a:xfrm>
            <a:off x="1298448" y="3648456"/>
            <a:ext cx="1307592" cy="0"/>
          </a:xfrm>
          <a:prstGeom prst="line">
            <a:avLst/>
          </a:prstGeom>
          <a:noFill/>
          <a:ln w="10160">
            <a:solidFill>
              <a:srgbClr val="D9C0A3"/>
            </a:solidFill>
            <a:prstDash val="solid"/>
          </a:ln>
        </p:spPr>
      </p:sp>
      <p:sp>
        <p:nvSpPr>
          <p:cNvPr id="13" name="Text 11"/>
          <p:cNvSpPr/>
          <p:nvPr/>
        </p:nvSpPr>
        <p:spPr>
          <a:xfrm>
            <a:off x="969264" y="3822192"/>
            <a:ext cx="1965960" cy="594360"/>
          </a:xfrm>
          <a:prstGeom prst="rect">
            <a:avLst/>
          </a:prstGeom>
          <a:noFill/>
          <a:ln/>
        </p:spPr>
        <p:txBody>
          <a:bodyPr wrap="square" lIns="254" tIns="254" rIns="254" bIns="254" rtlCol="0" anchor="ctr">
            <a:normAutofit/>
          </a:bodyPr>
          <a:lstStyle/>
          <a:p>
            <a:pPr algn="ctr" indent="0" marL="0">
              <a:buNone/>
            </a:pPr>
            <a:r>
              <a:rPr lang="en-US" sz="1020" dirty="0">
                <a:solidFill>
                  <a:srgbClr val="6C655E"/>
                </a:solidFill>
                <a:latin typeface="Arial" pitchFamily="34" charset="0"/>
                <a:ea typeface="Arial" pitchFamily="34" charset="-122"/>
                <a:cs typeface="Arial" pitchFamily="34" charset="-120"/>
              </a:rPr>
              <a:t>Las reservas no se gestionan en una sola plataforma.</a:t>
            </a:r>
            <a:endParaRPr lang="en-US" sz="1020" dirty="0"/>
          </a:p>
        </p:txBody>
      </p:sp>
      <p:sp>
        <p:nvSpPr>
          <p:cNvPr id="14" name="Text 12"/>
          <p:cNvSpPr/>
          <p:nvPr/>
        </p:nvSpPr>
        <p:spPr>
          <a:xfrm>
            <a:off x="3264408" y="2834640"/>
            <a:ext cx="210312" cy="457200"/>
          </a:xfrm>
          <a:prstGeom prst="rect">
            <a:avLst/>
          </a:prstGeom>
          <a:noFill/>
          <a:ln/>
        </p:spPr>
        <p:txBody>
          <a:bodyPr wrap="square" lIns="0" tIns="0" rIns="0" bIns="0" rtlCol="0" anchor="ctr"/>
          <a:lstStyle/>
          <a:p>
            <a:pPr algn="ctr" indent="0" marL="0">
              <a:buNone/>
            </a:pPr>
            <a:r>
              <a:rPr lang="en-US" sz="3000" dirty="0">
                <a:solidFill>
                  <a:srgbClr val="B58A4C"/>
                </a:solidFill>
                <a:latin typeface="Georgia" pitchFamily="34" charset="0"/>
                <a:ea typeface="Georgia" pitchFamily="34" charset="-122"/>
                <a:cs typeface="Georgia" pitchFamily="34" charset="-120"/>
              </a:rPr>
              <a:t>›</a:t>
            </a:r>
            <a:endParaRPr lang="en-US" sz="3000" dirty="0"/>
          </a:p>
        </p:txBody>
      </p:sp>
      <p:sp>
        <p:nvSpPr>
          <p:cNvPr id="15" name="Shape 13"/>
          <p:cNvSpPr/>
          <p:nvPr/>
        </p:nvSpPr>
        <p:spPr>
          <a:xfrm>
            <a:off x="3502152" y="1600200"/>
            <a:ext cx="2587752" cy="3090672"/>
          </a:xfrm>
          <a:prstGeom prst="roundRect">
            <a:avLst>
              <a:gd name="adj" fmla="val 2827"/>
            </a:avLst>
          </a:prstGeom>
          <a:solidFill>
            <a:srgbClr val="FFFDFC"/>
          </a:solidFill>
          <a:ln w="11430">
            <a:solidFill>
              <a:srgbClr val="E4D4C3"/>
            </a:solidFill>
            <a:prstDash val="solid"/>
          </a:ln>
        </p:spPr>
      </p:sp>
      <p:sp>
        <p:nvSpPr>
          <p:cNvPr id="16" name="Shape 14"/>
          <p:cNvSpPr/>
          <p:nvPr/>
        </p:nvSpPr>
        <p:spPr>
          <a:xfrm>
            <a:off x="3666744" y="1435608"/>
            <a:ext cx="429768" cy="429768"/>
          </a:xfrm>
          <a:prstGeom prst="ellipse">
            <a:avLst/>
          </a:prstGeom>
          <a:solidFill>
            <a:srgbClr val="B58A4C"/>
          </a:solidFill>
          <a:ln w="12700">
            <a:solidFill>
              <a:srgbClr val="B58A4C"/>
            </a:solidFill>
            <a:prstDash val="solid"/>
          </a:ln>
        </p:spPr>
      </p:sp>
      <p:sp>
        <p:nvSpPr>
          <p:cNvPr id="17" name="Text 15"/>
          <p:cNvSpPr/>
          <p:nvPr/>
        </p:nvSpPr>
        <p:spPr>
          <a:xfrm>
            <a:off x="3666744" y="1499616"/>
            <a:ext cx="4297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02</a:t>
            </a:r>
            <a:endParaRPr lang="en-US" sz="1000" dirty="0"/>
          </a:p>
        </p:txBody>
      </p:sp>
      <p:sp>
        <p:nvSpPr>
          <p:cNvPr id="18" name="Shape 16"/>
          <p:cNvSpPr/>
          <p:nvPr/>
        </p:nvSpPr>
        <p:spPr>
          <a:xfrm>
            <a:off x="4507992" y="1929384"/>
            <a:ext cx="566928" cy="566928"/>
          </a:xfrm>
          <a:prstGeom prst="ellipse">
            <a:avLst/>
          </a:prstGeom>
          <a:solidFill>
            <a:srgbClr val="F8EFE8"/>
          </a:solidFill>
          <a:ln w="12700">
            <a:solidFill>
              <a:srgbClr val="F8EFE8"/>
            </a:solidFill>
            <a:prstDash val="solid"/>
          </a:ln>
        </p:spPr>
      </p:sp>
      <p:sp>
        <p:nvSpPr>
          <p:cNvPr id="19" name="Text 17"/>
          <p:cNvSpPr/>
          <p:nvPr/>
        </p:nvSpPr>
        <p:spPr>
          <a:xfrm>
            <a:off x="4507992" y="2020824"/>
            <a:ext cx="566928" cy="329184"/>
          </a:xfrm>
          <a:prstGeom prst="rect">
            <a:avLst/>
          </a:prstGeom>
          <a:noFill/>
          <a:ln/>
        </p:spPr>
        <p:txBody>
          <a:bodyPr wrap="square" lIns="0" tIns="0" rIns="0" bIns="0" rtlCol="0" anchor="ctr"/>
          <a:lstStyle/>
          <a:p>
            <a:pPr algn="ctr" indent="0" marL="0">
              <a:buNone/>
            </a:pPr>
            <a:r>
              <a:rPr lang="en-US" sz="2000" b="1" dirty="0">
                <a:solidFill>
                  <a:srgbClr val="B58A4C"/>
                </a:solidFill>
                <a:latin typeface="Arial" pitchFamily="34" charset="0"/>
                <a:ea typeface="Arial" pitchFamily="34" charset="-122"/>
                <a:cs typeface="Arial" pitchFamily="34" charset="-120"/>
              </a:rPr>
              <a:t>D</a:t>
            </a:r>
            <a:endParaRPr lang="en-US" sz="2000" dirty="0"/>
          </a:p>
        </p:txBody>
      </p:sp>
      <p:sp>
        <p:nvSpPr>
          <p:cNvPr id="20" name="Text 18"/>
          <p:cNvSpPr/>
          <p:nvPr/>
        </p:nvSpPr>
        <p:spPr>
          <a:xfrm>
            <a:off x="3758184" y="2606040"/>
            <a:ext cx="2075688" cy="182880"/>
          </a:xfrm>
          <a:prstGeom prst="rect">
            <a:avLst/>
          </a:prstGeom>
          <a:noFill/>
          <a:ln/>
        </p:spPr>
        <p:txBody>
          <a:bodyPr wrap="square" lIns="0" tIns="0" rIns="0" bIns="0" rtlCol="0" anchor="ctr"/>
          <a:lstStyle/>
          <a:p>
            <a:pPr algn="ctr" indent="0" marL="0">
              <a:buNone/>
            </a:pPr>
            <a:r>
              <a:rPr lang="en-US" sz="850" b="1" spc="120" kern="0" dirty="0">
                <a:solidFill>
                  <a:srgbClr val="B58A4C"/>
                </a:solidFill>
                <a:latin typeface="Arial" pitchFamily="34" charset="0"/>
                <a:ea typeface="Arial" pitchFamily="34" charset="-122"/>
                <a:cs typeface="Arial" pitchFamily="34" charset="-120"/>
              </a:rPr>
              <a:t>INFORMACIÓN</a:t>
            </a:r>
            <a:endParaRPr lang="en-US" sz="850" dirty="0"/>
          </a:p>
        </p:txBody>
      </p:sp>
      <p:sp>
        <p:nvSpPr>
          <p:cNvPr id="21" name="Text 19"/>
          <p:cNvSpPr/>
          <p:nvPr/>
        </p:nvSpPr>
        <p:spPr>
          <a:xfrm>
            <a:off x="3730752" y="2898648"/>
            <a:ext cx="2130552" cy="658368"/>
          </a:xfrm>
          <a:prstGeom prst="rect">
            <a:avLst/>
          </a:prstGeom>
          <a:noFill/>
          <a:ln/>
        </p:spPr>
        <p:txBody>
          <a:bodyPr wrap="square" lIns="254" tIns="254" rIns="254" bIns="254" rtlCol="0" anchor="ctr">
            <a:normAutofit/>
          </a:bodyPr>
          <a:lstStyle/>
          <a:p>
            <a:pPr algn="ctr" indent="0" marL="0">
              <a:buNone/>
            </a:pPr>
            <a:r>
              <a:rPr lang="en-US" sz="1600" b="1" dirty="0">
                <a:solidFill>
                  <a:srgbClr val="1F2225"/>
                </a:solidFill>
                <a:latin typeface="Georgia" pitchFamily="34" charset="0"/>
                <a:ea typeface="Georgia" pitchFamily="34" charset="-122"/>
                <a:cs typeface="Georgia" pitchFamily="34" charset="-120"/>
              </a:rPr>
              <a:t>Clientas y atenciones dispersas</a:t>
            </a:r>
            <a:endParaRPr lang="en-US" sz="1600" dirty="0"/>
          </a:p>
        </p:txBody>
      </p:sp>
      <p:sp>
        <p:nvSpPr>
          <p:cNvPr id="22" name="Shape 20"/>
          <p:cNvSpPr/>
          <p:nvPr/>
        </p:nvSpPr>
        <p:spPr>
          <a:xfrm>
            <a:off x="4142232" y="3648456"/>
            <a:ext cx="1307592" cy="0"/>
          </a:xfrm>
          <a:prstGeom prst="line">
            <a:avLst/>
          </a:prstGeom>
          <a:noFill/>
          <a:ln w="10160">
            <a:solidFill>
              <a:srgbClr val="D9C0A3"/>
            </a:solidFill>
            <a:prstDash val="solid"/>
          </a:ln>
        </p:spPr>
      </p:sp>
      <p:sp>
        <p:nvSpPr>
          <p:cNvPr id="23" name="Text 21"/>
          <p:cNvSpPr/>
          <p:nvPr/>
        </p:nvSpPr>
        <p:spPr>
          <a:xfrm>
            <a:off x="3813048" y="3822192"/>
            <a:ext cx="1965960" cy="594360"/>
          </a:xfrm>
          <a:prstGeom prst="rect">
            <a:avLst/>
          </a:prstGeom>
          <a:noFill/>
          <a:ln/>
        </p:spPr>
        <p:txBody>
          <a:bodyPr wrap="square" lIns="254" tIns="254" rIns="254" bIns="254" rtlCol="0" anchor="ctr">
            <a:normAutofit/>
          </a:bodyPr>
          <a:lstStyle/>
          <a:p>
            <a:pPr algn="ctr" indent="0" marL="0">
              <a:buNone/>
            </a:pPr>
            <a:r>
              <a:rPr lang="en-US" sz="1020" dirty="0">
                <a:solidFill>
                  <a:srgbClr val="6C655E"/>
                </a:solidFill>
                <a:latin typeface="Arial" pitchFamily="34" charset="0"/>
                <a:ea typeface="Arial" pitchFamily="34" charset="-122"/>
                <a:cs typeface="Arial" pitchFamily="34" charset="-120"/>
              </a:rPr>
              <a:t>No existe un historial ordenado por clienta y servicio.</a:t>
            </a:r>
            <a:endParaRPr lang="en-US" sz="1020" dirty="0"/>
          </a:p>
        </p:txBody>
      </p:sp>
      <p:sp>
        <p:nvSpPr>
          <p:cNvPr id="24" name="Text 22"/>
          <p:cNvSpPr/>
          <p:nvPr/>
        </p:nvSpPr>
        <p:spPr>
          <a:xfrm>
            <a:off x="6108192" y="2834640"/>
            <a:ext cx="210312" cy="457200"/>
          </a:xfrm>
          <a:prstGeom prst="rect">
            <a:avLst/>
          </a:prstGeom>
          <a:noFill/>
          <a:ln/>
        </p:spPr>
        <p:txBody>
          <a:bodyPr wrap="square" lIns="0" tIns="0" rIns="0" bIns="0" rtlCol="0" anchor="ctr"/>
          <a:lstStyle/>
          <a:p>
            <a:pPr algn="ctr" indent="0" marL="0">
              <a:buNone/>
            </a:pPr>
            <a:r>
              <a:rPr lang="en-US" sz="3000" dirty="0">
                <a:solidFill>
                  <a:srgbClr val="B58A4C"/>
                </a:solidFill>
                <a:latin typeface="Georgia" pitchFamily="34" charset="0"/>
                <a:ea typeface="Georgia" pitchFamily="34" charset="-122"/>
                <a:cs typeface="Georgia" pitchFamily="34" charset="-120"/>
              </a:rPr>
              <a:t>›</a:t>
            </a:r>
            <a:endParaRPr lang="en-US" sz="3000" dirty="0"/>
          </a:p>
        </p:txBody>
      </p:sp>
      <p:sp>
        <p:nvSpPr>
          <p:cNvPr id="25" name="Shape 23"/>
          <p:cNvSpPr/>
          <p:nvPr/>
        </p:nvSpPr>
        <p:spPr>
          <a:xfrm>
            <a:off x="6345936" y="1600200"/>
            <a:ext cx="2587752" cy="3090672"/>
          </a:xfrm>
          <a:prstGeom prst="roundRect">
            <a:avLst>
              <a:gd name="adj" fmla="val 2827"/>
            </a:avLst>
          </a:prstGeom>
          <a:solidFill>
            <a:srgbClr val="FFFDFC"/>
          </a:solidFill>
          <a:ln w="11430">
            <a:solidFill>
              <a:srgbClr val="E4D4C3"/>
            </a:solidFill>
            <a:prstDash val="solid"/>
          </a:ln>
        </p:spPr>
      </p:sp>
      <p:sp>
        <p:nvSpPr>
          <p:cNvPr id="26" name="Shape 24"/>
          <p:cNvSpPr/>
          <p:nvPr/>
        </p:nvSpPr>
        <p:spPr>
          <a:xfrm>
            <a:off x="6510528" y="1435608"/>
            <a:ext cx="429768" cy="429768"/>
          </a:xfrm>
          <a:prstGeom prst="ellipse">
            <a:avLst/>
          </a:prstGeom>
          <a:solidFill>
            <a:srgbClr val="B58A4C"/>
          </a:solidFill>
          <a:ln w="12700">
            <a:solidFill>
              <a:srgbClr val="B58A4C"/>
            </a:solidFill>
            <a:prstDash val="solid"/>
          </a:ln>
        </p:spPr>
      </p:sp>
      <p:sp>
        <p:nvSpPr>
          <p:cNvPr id="27" name="Text 25"/>
          <p:cNvSpPr/>
          <p:nvPr/>
        </p:nvSpPr>
        <p:spPr>
          <a:xfrm>
            <a:off x="6510528" y="1499616"/>
            <a:ext cx="4297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03</a:t>
            </a:r>
            <a:endParaRPr lang="en-US" sz="1000" dirty="0"/>
          </a:p>
        </p:txBody>
      </p:sp>
      <p:sp>
        <p:nvSpPr>
          <p:cNvPr id="28" name="Shape 26"/>
          <p:cNvSpPr/>
          <p:nvPr/>
        </p:nvSpPr>
        <p:spPr>
          <a:xfrm>
            <a:off x="7351776" y="1929384"/>
            <a:ext cx="566928" cy="566928"/>
          </a:xfrm>
          <a:prstGeom prst="ellipse">
            <a:avLst/>
          </a:prstGeom>
          <a:solidFill>
            <a:srgbClr val="F8EFE8"/>
          </a:solidFill>
          <a:ln w="12700">
            <a:solidFill>
              <a:srgbClr val="F8EFE8"/>
            </a:solidFill>
            <a:prstDash val="solid"/>
          </a:ln>
        </p:spPr>
      </p:sp>
      <p:sp>
        <p:nvSpPr>
          <p:cNvPr id="29" name="Text 27"/>
          <p:cNvSpPr/>
          <p:nvPr/>
        </p:nvSpPr>
        <p:spPr>
          <a:xfrm>
            <a:off x="7351776" y="2020824"/>
            <a:ext cx="566928" cy="329184"/>
          </a:xfrm>
          <a:prstGeom prst="rect">
            <a:avLst/>
          </a:prstGeom>
          <a:noFill/>
          <a:ln/>
        </p:spPr>
        <p:txBody>
          <a:bodyPr wrap="square" lIns="0" tIns="0" rIns="0" bIns="0" rtlCol="0" anchor="ctr"/>
          <a:lstStyle/>
          <a:p>
            <a:pPr algn="ctr" indent="0" marL="0">
              <a:buNone/>
            </a:pPr>
            <a:r>
              <a:rPr lang="en-US" sz="2000" b="1" dirty="0">
                <a:solidFill>
                  <a:srgbClr val="B58A4C"/>
                </a:solidFill>
                <a:latin typeface="Arial" pitchFamily="34" charset="0"/>
                <a:ea typeface="Arial" pitchFamily="34" charset="-122"/>
                <a:cs typeface="Arial" pitchFamily="34" charset="-120"/>
              </a:rPr>
              <a:t>!</a:t>
            </a:r>
            <a:endParaRPr lang="en-US" sz="2000" dirty="0"/>
          </a:p>
        </p:txBody>
      </p:sp>
      <p:sp>
        <p:nvSpPr>
          <p:cNvPr id="30" name="Text 28"/>
          <p:cNvSpPr/>
          <p:nvPr/>
        </p:nvSpPr>
        <p:spPr>
          <a:xfrm>
            <a:off x="6601968" y="2606040"/>
            <a:ext cx="2075688" cy="182880"/>
          </a:xfrm>
          <a:prstGeom prst="rect">
            <a:avLst/>
          </a:prstGeom>
          <a:noFill/>
          <a:ln/>
        </p:spPr>
        <p:txBody>
          <a:bodyPr wrap="square" lIns="0" tIns="0" rIns="0" bIns="0" rtlCol="0" anchor="ctr"/>
          <a:lstStyle/>
          <a:p>
            <a:pPr algn="ctr" indent="0" marL="0">
              <a:buNone/>
            </a:pPr>
            <a:r>
              <a:rPr lang="en-US" sz="850" b="1" spc="120" kern="0" dirty="0">
                <a:solidFill>
                  <a:srgbClr val="B58A4C"/>
                </a:solidFill>
                <a:latin typeface="Arial" pitchFamily="34" charset="0"/>
                <a:ea typeface="Arial" pitchFamily="34" charset="-122"/>
                <a:cs typeface="Arial" pitchFamily="34" charset="-120"/>
              </a:rPr>
              <a:t>SEGUIMIENTO</a:t>
            </a:r>
            <a:endParaRPr lang="en-US" sz="850" dirty="0"/>
          </a:p>
        </p:txBody>
      </p:sp>
      <p:sp>
        <p:nvSpPr>
          <p:cNvPr id="31" name="Text 29"/>
          <p:cNvSpPr/>
          <p:nvPr/>
        </p:nvSpPr>
        <p:spPr>
          <a:xfrm>
            <a:off x="6574536" y="2898648"/>
            <a:ext cx="2130552" cy="658368"/>
          </a:xfrm>
          <a:prstGeom prst="rect">
            <a:avLst/>
          </a:prstGeom>
          <a:noFill/>
          <a:ln/>
        </p:spPr>
        <p:txBody>
          <a:bodyPr wrap="square" lIns="254" tIns="254" rIns="254" bIns="254" rtlCol="0" anchor="ctr">
            <a:normAutofit/>
          </a:bodyPr>
          <a:lstStyle/>
          <a:p>
            <a:pPr algn="ctr" indent="0" marL="0">
              <a:buNone/>
            </a:pPr>
            <a:r>
              <a:rPr lang="en-US" sz="1600" b="1" dirty="0">
                <a:solidFill>
                  <a:srgbClr val="1F2225"/>
                </a:solidFill>
                <a:latin typeface="Georgia" pitchFamily="34" charset="0"/>
                <a:ea typeface="Georgia" pitchFamily="34" charset="-122"/>
                <a:cs typeface="Georgia" pitchFamily="34" charset="-120"/>
              </a:rPr>
              <a:t>Sin automatización</a:t>
            </a:r>
            <a:endParaRPr lang="en-US" sz="1600" dirty="0"/>
          </a:p>
        </p:txBody>
      </p:sp>
      <p:sp>
        <p:nvSpPr>
          <p:cNvPr id="32" name="Shape 30"/>
          <p:cNvSpPr/>
          <p:nvPr/>
        </p:nvSpPr>
        <p:spPr>
          <a:xfrm>
            <a:off x="6986016" y="3648456"/>
            <a:ext cx="1307592" cy="0"/>
          </a:xfrm>
          <a:prstGeom prst="line">
            <a:avLst/>
          </a:prstGeom>
          <a:noFill/>
          <a:ln w="10160">
            <a:solidFill>
              <a:srgbClr val="D9C0A3"/>
            </a:solidFill>
            <a:prstDash val="solid"/>
          </a:ln>
        </p:spPr>
      </p:sp>
      <p:sp>
        <p:nvSpPr>
          <p:cNvPr id="33" name="Text 31"/>
          <p:cNvSpPr/>
          <p:nvPr/>
        </p:nvSpPr>
        <p:spPr>
          <a:xfrm>
            <a:off x="6656832" y="3822192"/>
            <a:ext cx="1965960" cy="594360"/>
          </a:xfrm>
          <a:prstGeom prst="rect">
            <a:avLst/>
          </a:prstGeom>
          <a:noFill/>
          <a:ln/>
        </p:spPr>
        <p:txBody>
          <a:bodyPr wrap="square" lIns="254" tIns="254" rIns="254" bIns="254" rtlCol="0" anchor="ctr">
            <a:normAutofit/>
          </a:bodyPr>
          <a:lstStyle/>
          <a:p>
            <a:pPr algn="ctr" indent="0" marL="0">
              <a:buNone/>
            </a:pPr>
            <a:r>
              <a:rPr lang="en-US" sz="1020" dirty="0">
                <a:solidFill>
                  <a:srgbClr val="6C655E"/>
                </a:solidFill>
                <a:latin typeface="Arial" pitchFamily="34" charset="0"/>
                <a:ea typeface="Arial" pitchFamily="34" charset="-122"/>
                <a:cs typeface="Arial" pitchFamily="34" charset="-120"/>
              </a:rPr>
              <a:t>No se generan alertas o recordatorios posteriores a la atención.</a:t>
            </a:r>
            <a:endParaRPr lang="en-US" sz="1020" dirty="0"/>
          </a:p>
        </p:txBody>
      </p:sp>
      <p:sp>
        <p:nvSpPr>
          <p:cNvPr id="34" name="Text 32"/>
          <p:cNvSpPr/>
          <p:nvPr/>
        </p:nvSpPr>
        <p:spPr>
          <a:xfrm>
            <a:off x="8951976" y="2834640"/>
            <a:ext cx="210312" cy="457200"/>
          </a:xfrm>
          <a:prstGeom prst="rect">
            <a:avLst/>
          </a:prstGeom>
          <a:noFill/>
          <a:ln/>
        </p:spPr>
        <p:txBody>
          <a:bodyPr wrap="square" lIns="0" tIns="0" rIns="0" bIns="0" rtlCol="0" anchor="ctr"/>
          <a:lstStyle/>
          <a:p>
            <a:pPr algn="ctr" indent="0" marL="0">
              <a:buNone/>
            </a:pPr>
            <a:r>
              <a:rPr lang="en-US" sz="3000" dirty="0">
                <a:solidFill>
                  <a:srgbClr val="B58A4C"/>
                </a:solidFill>
                <a:latin typeface="Georgia" pitchFamily="34" charset="0"/>
                <a:ea typeface="Georgia" pitchFamily="34" charset="-122"/>
                <a:cs typeface="Georgia" pitchFamily="34" charset="-120"/>
              </a:rPr>
              <a:t>›</a:t>
            </a:r>
            <a:endParaRPr lang="en-US" sz="3000" dirty="0"/>
          </a:p>
        </p:txBody>
      </p:sp>
      <p:sp>
        <p:nvSpPr>
          <p:cNvPr id="35" name="Shape 33"/>
          <p:cNvSpPr/>
          <p:nvPr/>
        </p:nvSpPr>
        <p:spPr>
          <a:xfrm>
            <a:off x="9189720" y="1600200"/>
            <a:ext cx="2587752" cy="3090672"/>
          </a:xfrm>
          <a:prstGeom prst="roundRect">
            <a:avLst>
              <a:gd name="adj" fmla="val 2827"/>
            </a:avLst>
          </a:prstGeom>
          <a:solidFill>
            <a:srgbClr val="FFFDFC"/>
          </a:solidFill>
          <a:ln w="11430">
            <a:solidFill>
              <a:srgbClr val="E4D4C3"/>
            </a:solidFill>
            <a:prstDash val="solid"/>
          </a:ln>
        </p:spPr>
      </p:sp>
      <p:sp>
        <p:nvSpPr>
          <p:cNvPr id="36" name="Shape 34"/>
          <p:cNvSpPr/>
          <p:nvPr/>
        </p:nvSpPr>
        <p:spPr>
          <a:xfrm>
            <a:off x="9354312" y="1435608"/>
            <a:ext cx="429768" cy="429768"/>
          </a:xfrm>
          <a:prstGeom prst="ellipse">
            <a:avLst/>
          </a:prstGeom>
          <a:solidFill>
            <a:srgbClr val="B58A4C"/>
          </a:solidFill>
          <a:ln w="12700">
            <a:solidFill>
              <a:srgbClr val="B58A4C"/>
            </a:solidFill>
            <a:prstDash val="solid"/>
          </a:ln>
        </p:spPr>
      </p:sp>
      <p:sp>
        <p:nvSpPr>
          <p:cNvPr id="37" name="Text 35"/>
          <p:cNvSpPr/>
          <p:nvPr/>
        </p:nvSpPr>
        <p:spPr>
          <a:xfrm>
            <a:off x="9354312" y="1499616"/>
            <a:ext cx="4297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04</a:t>
            </a:r>
            <a:endParaRPr lang="en-US" sz="1000" dirty="0"/>
          </a:p>
        </p:txBody>
      </p:sp>
      <p:sp>
        <p:nvSpPr>
          <p:cNvPr id="38" name="Shape 36"/>
          <p:cNvSpPr/>
          <p:nvPr/>
        </p:nvSpPr>
        <p:spPr>
          <a:xfrm>
            <a:off x="10195560" y="1929384"/>
            <a:ext cx="566928" cy="566928"/>
          </a:xfrm>
          <a:prstGeom prst="ellipse">
            <a:avLst/>
          </a:prstGeom>
          <a:solidFill>
            <a:srgbClr val="F8EFE8"/>
          </a:solidFill>
          <a:ln w="12700">
            <a:solidFill>
              <a:srgbClr val="F8EFE8"/>
            </a:solidFill>
            <a:prstDash val="solid"/>
          </a:ln>
        </p:spPr>
      </p:sp>
      <p:sp>
        <p:nvSpPr>
          <p:cNvPr id="39" name="Text 37"/>
          <p:cNvSpPr/>
          <p:nvPr/>
        </p:nvSpPr>
        <p:spPr>
          <a:xfrm>
            <a:off x="10195560" y="2020824"/>
            <a:ext cx="566928" cy="329184"/>
          </a:xfrm>
          <a:prstGeom prst="rect">
            <a:avLst/>
          </a:prstGeom>
          <a:noFill/>
          <a:ln/>
        </p:spPr>
        <p:txBody>
          <a:bodyPr wrap="square" lIns="0" tIns="0" rIns="0" bIns="0" rtlCol="0" anchor="ctr"/>
          <a:lstStyle/>
          <a:p>
            <a:pPr algn="ctr" indent="0" marL="0">
              <a:buNone/>
            </a:pPr>
            <a:r>
              <a:rPr lang="en-US" sz="2000" b="1" dirty="0">
                <a:solidFill>
                  <a:srgbClr val="B58A4C"/>
                </a:solidFill>
                <a:latin typeface="Arial" pitchFamily="34" charset="0"/>
                <a:ea typeface="Arial" pitchFamily="34" charset="-122"/>
                <a:cs typeface="Arial" pitchFamily="34" charset="-120"/>
              </a:rPr>
              <a:t>↓</a:t>
            </a:r>
            <a:endParaRPr lang="en-US" sz="2000" dirty="0"/>
          </a:p>
        </p:txBody>
      </p:sp>
      <p:sp>
        <p:nvSpPr>
          <p:cNvPr id="40" name="Text 38"/>
          <p:cNvSpPr/>
          <p:nvPr/>
        </p:nvSpPr>
        <p:spPr>
          <a:xfrm>
            <a:off x="9445752" y="2606040"/>
            <a:ext cx="2075688" cy="182880"/>
          </a:xfrm>
          <a:prstGeom prst="rect">
            <a:avLst/>
          </a:prstGeom>
          <a:noFill/>
          <a:ln/>
        </p:spPr>
        <p:txBody>
          <a:bodyPr wrap="square" lIns="0" tIns="0" rIns="0" bIns="0" rtlCol="0" anchor="ctr"/>
          <a:lstStyle/>
          <a:p>
            <a:pPr algn="ctr" indent="0" marL="0">
              <a:buNone/>
            </a:pPr>
            <a:r>
              <a:rPr lang="en-US" sz="850" b="1" spc="120" kern="0" dirty="0">
                <a:solidFill>
                  <a:srgbClr val="B58A4C"/>
                </a:solidFill>
                <a:latin typeface="Arial" pitchFamily="34" charset="0"/>
                <a:ea typeface="Arial" pitchFamily="34" charset="-122"/>
                <a:cs typeface="Arial" pitchFamily="34" charset="-120"/>
              </a:rPr>
              <a:t>IMPACTO</a:t>
            </a:r>
            <a:endParaRPr lang="en-US" sz="850" dirty="0"/>
          </a:p>
        </p:txBody>
      </p:sp>
      <p:sp>
        <p:nvSpPr>
          <p:cNvPr id="41" name="Text 39"/>
          <p:cNvSpPr/>
          <p:nvPr/>
        </p:nvSpPr>
        <p:spPr>
          <a:xfrm>
            <a:off x="9418320" y="2898648"/>
            <a:ext cx="2130552" cy="658368"/>
          </a:xfrm>
          <a:prstGeom prst="rect">
            <a:avLst/>
          </a:prstGeom>
          <a:noFill/>
          <a:ln/>
        </p:spPr>
        <p:txBody>
          <a:bodyPr wrap="square" lIns="254" tIns="254" rIns="254" bIns="254" rtlCol="0" anchor="ctr">
            <a:normAutofit/>
          </a:bodyPr>
          <a:lstStyle/>
          <a:p>
            <a:pPr algn="ctr" indent="0" marL="0">
              <a:buNone/>
            </a:pPr>
            <a:r>
              <a:rPr lang="en-US" sz="1600" b="1" dirty="0">
                <a:solidFill>
                  <a:srgbClr val="1F2225"/>
                </a:solidFill>
                <a:latin typeface="Georgia" pitchFamily="34" charset="0"/>
                <a:ea typeface="Georgia" pitchFamily="34" charset="-122"/>
                <a:cs typeface="Georgia" pitchFamily="34" charset="-120"/>
              </a:rPr>
              <a:t>Menor fidelización</a:t>
            </a:r>
            <a:endParaRPr lang="en-US" sz="1600" dirty="0"/>
          </a:p>
        </p:txBody>
      </p:sp>
      <p:sp>
        <p:nvSpPr>
          <p:cNvPr id="42" name="Shape 40"/>
          <p:cNvSpPr/>
          <p:nvPr/>
        </p:nvSpPr>
        <p:spPr>
          <a:xfrm>
            <a:off x="9829800" y="3648456"/>
            <a:ext cx="1307592" cy="0"/>
          </a:xfrm>
          <a:prstGeom prst="line">
            <a:avLst/>
          </a:prstGeom>
          <a:noFill/>
          <a:ln w="10160">
            <a:solidFill>
              <a:srgbClr val="D9C0A3"/>
            </a:solidFill>
            <a:prstDash val="solid"/>
          </a:ln>
        </p:spPr>
      </p:sp>
      <p:sp>
        <p:nvSpPr>
          <p:cNvPr id="43" name="Text 41"/>
          <p:cNvSpPr/>
          <p:nvPr/>
        </p:nvSpPr>
        <p:spPr>
          <a:xfrm>
            <a:off x="9500616" y="3822192"/>
            <a:ext cx="1965960" cy="594360"/>
          </a:xfrm>
          <a:prstGeom prst="rect">
            <a:avLst/>
          </a:prstGeom>
          <a:noFill/>
          <a:ln/>
        </p:spPr>
        <p:txBody>
          <a:bodyPr wrap="square" lIns="254" tIns="254" rIns="254" bIns="254" rtlCol="0" anchor="ctr">
            <a:normAutofit/>
          </a:bodyPr>
          <a:lstStyle/>
          <a:p>
            <a:pPr algn="ctr" indent="0" marL="0">
              <a:buNone/>
            </a:pPr>
            <a:r>
              <a:rPr lang="en-US" sz="1020" dirty="0">
                <a:solidFill>
                  <a:srgbClr val="6C655E"/>
                </a:solidFill>
                <a:latin typeface="Arial" pitchFamily="34" charset="0"/>
                <a:ea typeface="Arial" pitchFamily="34" charset="-122"/>
                <a:cs typeface="Arial" pitchFamily="34" charset="-120"/>
              </a:rPr>
              <a:t>Se pierden oportunidades de contacto, recompra y nuevas reservas.</a:t>
            </a:r>
            <a:endParaRPr lang="en-US" sz="1020" dirty="0"/>
          </a:p>
        </p:txBody>
      </p:sp>
      <p:sp>
        <p:nvSpPr>
          <p:cNvPr id="44" name="Shape 42"/>
          <p:cNvSpPr/>
          <p:nvPr/>
        </p:nvSpPr>
        <p:spPr>
          <a:xfrm>
            <a:off x="1051560" y="5074920"/>
            <a:ext cx="10058400" cy="841248"/>
          </a:xfrm>
          <a:prstGeom prst="roundRect">
            <a:avLst>
              <a:gd name="adj" fmla="val 8696"/>
            </a:avLst>
          </a:prstGeom>
          <a:solidFill>
            <a:srgbClr val="F8EFE8"/>
          </a:solidFill>
          <a:ln w="11430">
            <a:solidFill>
              <a:srgbClr val="F8EFE8"/>
            </a:solidFill>
            <a:prstDash val="solid"/>
          </a:ln>
        </p:spPr>
      </p:sp>
      <p:sp>
        <p:nvSpPr>
          <p:cNvPr id="45" name="Text 43"/>
          <p:cNvSpPr/>
          <p:nvPr/>
        </p:nvSpPr>
        <p:spPr>
          <a:xfrm>
            <a:off x="1325880" y="5321808"/>
            <a:ext cx="2286000" cy="155448"/>
          </a:xfrm>
          <a:prstGeom prst="rect">
            <a:avLst/>
          </a:prstGeom>
          <a:noFill/>
          <a:ln/>
        </p:spPr>
        <p:txBody>
          <a:bodyPr wrap="square" lIns="0" tIns="0" rIns="0" bIns="0" rtlCol="0" anchor="ctr"/>
          <a:lstStyle/>
          <a:p>
            <a:pPr indent="0" marL="0">
              <a:buNone/>
            </a:pPr>
            <a:r>
              <a:rPr lang="en-US" sz="850" b="1" spc="100" kern="0" dirty="0">
                <a:solidFill>
                  <a:srgbClr val="B58A4C"/>
                </a:solidFill>
                <a:latin typeface="Arial" pitchFamily="34" charset="0"/>
                <a:ea typeface="Arial" pitchFamily="34" charset="-122"/>
                <a:cs typeface="Arial" pitchFamily="34" charset="-120"/>
              </a:rPr>
              <a:t>NECESIDAD DEL PROYECTO</a:t>
            </a:r>
            <a:endParaRPr lang="en-US" sz="850" dirty="0"/>
          </a:p>
        </p:txBody>
      </p:sp>
      <p:sp>
        <p:nvSpPr>
          <p:cNvPr id="46" name="Text 44"/>
          <p:cNvSpPr/>
          <p:nvPr/>
        </p:nvSpPr>
        <p:spPr>
          <a:xfrm>
            <a:off x="3429000" y="5230368"/>
            <a:ext cx="7315200" cy="347472"/>
          </a:xfrm>
          <a:prstGeom prst="rect">
            <a:avLst/>
          </a:prstGeom>
          <a:noFill/>
          <a:ln/>
        </p:spPr>
        <p:txBody>
          <a:bodyPr wrap="square" lIns="254" tIns="254" rIns="254" bIns="254" rtlCol="0" anchor="ctr">
            <a:normAutofit/>
          </a:bodyPr>
          <a:lstStyle/>
          <a:p>
            <a:pPr indent="0" marL="0">
              <a:buNone/>
            </a:pPr>
            <a:r>
              <a:rPr lang="en-US" sz="1400" b="1" dirty="0">
                <a:solidFill>
                  <a:srgbClr val="1F2225"/>
                </a:solidFill>
                <a:latin typeface="Georgia" pitchFamily="34" charset="0"/>
                <a:ea typeface="Georgia" pitchFamily="34" charset="-122"/>
                <a:cs typeface="Georgia" pitchFamily="34" charset="-120"/>
              </a:rPr>
              <a:t>Centralizar reservas, historial y seguimiento en una plataforma web integrada y flexible.</a:t>
            </a:r>
            <a:endParaRPr lang="en-US" sz="1400" dirty="0"/>
          </a:p>
        </p:txBody>
      </p:sp>
      <p:sp>
        <p:nvSpPr>
          <p:cNvPr id="47" name="Text 45"/>
          <p:cNvSpPr/>
          <p:nvPr/>
        </p:nvSpPr>
        <p:spPr>
          <a:xfrm>
            <a:off x="3429000" y="5596128"/>
            <a:ext cx="7132320" cy="173736"/>
          </a:xfrm>
          <a:prstGeom prst="rect">
            <a:avLst/>
          </a:prstGeom>
          <a:noFill/>
          <a:ln/>
        </p:spPr>
        <p:txBody>
          <a:bodyPr wrap="square" lIns="0" tIns="0" rIns="0" bIns="0" rtlCol="0" anchor="ctr"/>
          <a:lstStyle/>
          <a:p>
            <a:pPr indent="0" marL="0">
              <a:buNone/>
            </a:pPr>
            <a:r>
              <a:rPr lang="en-US" sz="850" dirty="0">
                <a:solidFill>
                  <a:srgbClr val="6C655E"/>
                </a:solidFill>
                <a:latin typeface="Arial" pitchFamily="34" charset="0"/>
                <a:ea typeface="Arial" pitchFamily="34" charset="-122"/>
                <a:cs typeface="Arial" pitchFamily="34" charset="-120"/>
              </a:rPr>
              <a:t>Problema de negocio → impacto operacional → necesidad tecnológica</a:t>
            </a:r>
            <a:endParaRPr lang="en-US" sz="850" dirty="0"/>
          </a:p>
        </p:txBody>
      </p:sp>
      <p:sp>
        <p:nvSpPr>
          <p:cNvPr id="25" name="Slide Number Placeholder 0"/>
          <p:cNvSpPr>
            <a:spLocks noGrp="1"/>
          </p:cNvSpPr>
          <p:nvPr>
            <p:ph type="sldNum" sz="quarter" idx="4294967295"/>
          </p:nvPr>
        </p:nvSpPr>
        <p:spPr>
          <a:xfrm>
            <a:off x="11759184" y="228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B4905D"/>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502920"/>
            <a:ext cx="10789920" cy="502920"/>
          </a:xfrm>
          <a:prstGeom prst="rect">
            <a:avLst/>
          </a:prstGeom>
          <a:noFill/>
          <a:ln/>
        </p:spPr>
        <p:txBody>
          <a:bodyPr wrap="square" lIns="0" tIns="0" rIns="0" bIns="0" rtlCol="0" anchor="ctr"/>
          <a:lstStyle/>
          <a:p>
            <a:pPr indent="0" marL="0">
              <a:buNone/>
            </a:pPr>
            <a:r>
              <a:rPr lang="en-US" sz="2700" b="1" dirty="0">
                <a:solidFill>
                  <a:srgbClr val="1F2225"/>
                </a:solidFill>
                <a:latin typeface="Georgia" pitchFamily="34" charset="0"/>
                <a:ea typeface="Georgia" pitchFamily="34" charset="-122"/>
                <a:cs typeface="Georgia" pitchFamily="34" charset="-120"/>
              </a:rPr>
              <a:t>Objetivo general</a:t>
            </a:r>
            <a:endParaRPr lang="en-US" sz="2700" dirty="0"/>
          </a:p>
        </p:txBody>
      </p:sp>
      <p:sp>
        <p:nvSpPr>
          <p:cNvPr id="3" name="Shape 1"/>
          <p:cNvSpPr/>
          <p:nvPr/>
        </p:nvSpPr>
        <p:spPr>
          <a:xfrm>
            <a:off x="685800" y="1115568"/>
            <a:ext cx="1645920" cy="0"/>
          </a:xfrm>
          <a:prstGeom prst="line">
            <a:avLst/>
          </a:prstGeom>
          <a:noFill/>
          <a:ln w="15875">
            <a:solidFill>
              <a:srgbClr val="B58A4C"/>
            </a:solidFill>
            <a:prstDash val="solid"/>
          </a:ln>
        </p:spPr>
      </p:sp>
      <p:sp>
        <p:nvSpPr>
          <p:cNvPr id="4" name="Text 2"/>
          <p:cNvSpPr/>
          <p:nvPr/>
        </p:nvSpPr>
        <p:spPr>
          <a:xfrm>
            <a:off x="2450592" y="941832"/>
            <a:ext cx="7955280" cy="256032"/>
          </a:xfrm>
          <a:prstGeom prst="rect">
            <a:avLst/>
          </a:prstGeom>
          <a:noFill/>
          <a:ln/>
        </p:spPr>
        <p:txBody>
          <a:bodyPr wrap="square" lIns="0" tIns="0" rIns="0" bIns="0" rtlCol="0" anchor="ctr"/>
          <a:lstStyle/>
          <a:p>
            <a:pPr indent="0" marL="0">
              <a:buNone/>
            </a:pPr>
            <a:r>
              <a:rPr lang="en-US" sz="1200" i="1" dirty="0">
                <a:solidFill>
                  <a:srgbClr val="8D6A3A"/>
                </a:solidFill>
                <a:latin typeface="Georgia" pitchFamily="34" charset="0"/>
                <a:ea typeface="Georgia" pitchFamily="34" charset="-122"/>
                <a:cs typeface="Georgia" pitchFamily="34" charset="-120"/>
              </a:rPr>
              <a:t>Qué construiremos y para qué</a:t>
            </a:r>
            <a:endParaRPr lang="en-US" sz="1200" dirty="0"/>
          </a:p>
        </p:txBody>
      </p:sp>
      <p:sp>
        <p:nvSpPr>
          <p:cNvPr id="5" name="Shape 3"/>
          <p:cNvSpPr/>
          <p:nvPr/>
        </p:nvSpPr>
        <p:spPr>
          <a:xfrm>
            <a:off x="868680" y="1536192"/>
            <a:ext cx="10469880" cy="1847088"/>
          </a:xfrm>
          <a:prstGeom prst="roundRect">
            <a:avLst>
              <a:gd name="adj" fmla="val 3960"/>
            </a:avLst>
          </a:prstGeom>
          <a:solidFill>
            <a:srgbClr val="F8EFE8"/>
          </a:solidFill>
          <a:ln w="11430">
            <a:solidFill>
              <a:srgbClr val="F8EFE8"/>
            </a:solidFill>
            <a:prstDash val="solid"/>
          </a:ln>
        </p:spPr>
      </p:sp>
      <p:sp>
        <p:nvSpPr>
          <p:cNvPr id="6" name="Text 4"/>
          <p:cNvSpPr/>
          <p:nvPr/>
        </p:nvSpPr>
        <p:spPr>
          <a:xfrm>
            <a:off x="1115568" y="1728216"/>
            <a:ext cx="411480" cy="411480"/>
          </a:xfrm>
          <a:prstGeom prst="rect">
            <a:avLst/>
          </a:prstGeom>
          <a:noFill/>
          <a:ln/>
        </p:spPr>
        <p:txBody>
          <a:bodyPr wrap="square" lIns="0" tIns="0" rIns="0" bIns="0" rtlCol="0" anchor="ctr"/>
          <a:lstStyle/>
          <a:p>
            <a:pPr indent="0" marL="0">
              <a:buNone/>
            </a:pPr>
            <a:r>
              <a:rPr lang="en-US" sz="3500" b="1" dirty="0">
                <a:solidFill>
                  <a:srgbClr val="B58A4C"/>
                </a:solidFill>
                <a:latin typeface="Georgia" pitchFamily="34" charset="0"/>
                <a:ea typeface="Georgia" pitchFamily="34" charset="-122"/>
                <a:cs typeface="Georgia" pitchFamily="34" charset="-120"/>
              </a:rPr>
              <a:t>“</a:t>
            </a:r>
            <a:endParaRPr lang="en-US" sz="3500" dirty="0"/>
          </a:p>
        </p:txBody>
      </p:sp>
      <p:sp>
        <p:nvSpPr>
          <p:cNvPr id="7" name="Text 5"/>
          <p:cNvSpPr/>
          <p:nvPr/>
        </p:nvSpPr>
        <p:spPr>
          <a:xfrm>
            <a:off x="1572768" y="1901952"/>
            <a:ext cx="9052560" cy="1005840"/>
          </a:xfrm>
          <a:prstGeom prst="rect">
            <a:avLst/>
          </a:prstGeom>
          <a:noFill/>
          <a:ln/>
        </p:spPr>
        <p:txBody>
          <a:bodyPr wrap="square" lIns="381" tIns="381" rIns="381" bIns="381" rtlCol="0" anchor="ctr">
            <a:normAutofit/>
          </a:bodyPr>
          <a:lstStyle/>
          <a:p>
            <a:pPr algn="ctr" indent="0" marL="0">
              <a:buNone/>
            </a:pPr>
            <a:r>
              <a:rPr lang="en-US" sz="1800" b="1" dirty="0">
                <a:solidFill>
                  <a:srgbClr val="1F2225"/>
                </a:solidFill>
                <a:latin typeface="Georgia" pitchFamily="34" charset="0"/>
                <a:ea typeface="Georgia" pitchFamily="34" charset="-122"/>
                <a:cs typeface="Georgia" pitchFamily="34" charset="-120"/>
              </a:rPr>
              <a:t>Desarrollar e implementar una plataforma web de agendamiento inteligente y gestión de clientes (CRM) para Nicolett Studio Fantasy, con el fin de optimizar la administración de reservas y personalizar la atención de usuarias con disponibilidad restringida.</a:t>
            </a:r>
            <a:endParaRPr lang="en-US" sz="1800" dirty="0"/>
          </a:p>
        </p:txBody>
      </p:sp>
      <p:sp>
        <p:nvSpPr>
          <p:cNvPr id="8" name="Text 6"/>
          <p:cNvSpPr/>
          <p:nvPr/>
        </p:nvSpPr>
        <p:spPr>
          <a:xfrm>
            <a:off x="10634472" y="2542032"/>
            <a:ext cx="411480" cy="411480"/>
          </a:xfrm>
          <a:prstGeom prst="rect">
            <a:avLst/>
          </a:prstGeom>
          <a:noFill/>
          <a:ln/>
        </p:spPr>
        <p:txBody>
          <a:bodyPr wrap="square" lIns="0" tIns="0" rIns="0" bIns="0" rtlCol="0" anchor="ctr"/>
          <a:lstStyle/>
          <a:p>
            <a:pPr indent="0" marL="0">
              <a:buNone/>
            </a:pPr>
            <a:r>
              <a:rPr lang="en-US" sz="3500" b="1" dirty="0">
                <a:solidFill>
                  <a:srgbClr val="B58A4C"/>
                </a:solidFill>
                <a:latin typeface="Georgia" pitchFamily="34" charset="0"/>
                <a:ea typeface="Georgia" pitchFamily="34" charset="-122"/>
                <a:cs typeface="Georgia" pitchFamily="34" charset="-120"/>
              </a:rPr>
              <a:t>”</a:t>
            </a:r>
            <a:endParaRPr lang="en-US" sz="3500" dirty="0"/>
          </a:p>
        </p:txBody>
      </p:sp>
      <p:sp>
        <p:nvSpPr>
          <p:cNvPr id="9" name="Shape 7"/>
          <p:cNvSpPr/>
          <p:nvPr/>
        </p:nvSpPr>
        <p:spPr>
          <a:xfrm>
            <a:off x="941832" y="3703320"/>
            <a:ext cx="3218688" cy="1325880"/>
          </a:xfrm>
          <a:prstGeom prst="roundRect">
            <a:avLst>
              <a:gd name="adj" fmla="val 5517"/>
            </a:avLst>
          </a:prstGeom>
          <a:solidFill>
            <a:srgbClr val="FFFDFC"/>
          </a:solidFill>
          <a:ln w="11430">
            <a:solidFill>
              <a:srgbClr val="E4D4C3"/>
            </a:solidFill>
            <a:prstDash val="solid"/>
          </a:ln>
        </p:spPr>
      </p:sp>
      <p:sp>
        <p:nvSpPr>
          <p:cNvPr id="10" name="Shape 8"/>
          <p:cNvSpPr/>
          <p:nvPr/>
        </p:nvSpPr>
        <p:spPr>
          <a:xfrm>
            <a:off x="1124712" y="3941064"/>
            <a:ext cx="502920" cy="502920"/>
          </a:xfrm>
          <a:prstGeom prst="ellipse">
            <a:avLst/>
          </a:prstGeom>
          <a:solidFill>
            <a:srgbClr val="B58A4C"/>
          </a:solidFill>
          <a:ln w="12700">
            <a:solidFill>
              <a:srgbClr val="B58A4C"/>
            </a:solidFill>
            <a:prstDash val="solid"/>
          </a:ln>
        </p:spPr>
      </p:sp>
      <p:sp>
        <p:nvSpPr>
          <p:cNvPr id="11" name="Text 9"/>
          <p:cNvSpPr/>
          <p:nvPr/>
        </p:nvSpPr>
        <p:spPr>
          <a:xfrm>
            <a:off x="1124712" y="4087368"/>
            <a:ext cx="50292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12" name="Text 10"/>
          <p:cNvSpPr/>
          <p:nvPr/>
        </p:nvSpPr>
        <p:spPr>
          <a:xfrm>
            <a:off x="1764792" y="3913632"/>
            <a:ext cx="2148840" cy="182880"/>
          </a:xfrm>
          <a:prstGeom prst="rect">
            <a:avLst/>
          </a:prstGeom>
          <a:noFill/>
          <a:ln/>
        </p:spPr>
        <p:txBody>
          <a:bodyPr wrap="square" lIns="0" tIns="0" rIns="0" bIns="0" rtlCol="0" anchor="ctr"/>
          <a:lstStyle/>
          <a:p>
            <a:pPr indent="0" marL="0">
              <a:buNone/>
            </a:pPr>
            <a:r>
              <a:rPr lang="en-US" sz="900" b="1" spc="80" kern="0" dirty="0">
                <a:solidFill>
                  <a:srgbClr val="B58A4C"/>
                </a:solidFill>
                <a:latin typeface="Arial" pitchFamily="34" charset="0"/>
                <a:ea typeface="Arial" pitchFamily="34" charset="-122"/>
                <a:cs typeface="Arial" pitchFamily="34" charset="-120"/>
              </a:rPr>
              <a:t>AGENDAMIENTO</a:t>
            </a:r>
            <a:endParaRPr lang="en-US" sz="900" dirty="0"/>
          </a:p>
        </p:txBody>
      </p:sp>
      <p:sp>
        <p:nvSpPr>
          <p:cNvPr id="13" name="Text 11"/>
          <p:cNvSpPr/>
          <p:nvPr/>
        </p:nvSpPr>
        <p:spPr>
          <a:xfrm>
            <a:off x="1764792" y="4224528"/>
            <a:ext cx="2148840" cy="502920"/>
          </a:xfrm>
          <a:prstGeom prst="rect">
            <a:avLst/>
          </a:prstGeom>
          <a:noFill/>
          <a:ln/>
        </p:spPr>
        <p:txBody>
          <a:bodyPr wrap="square" lIns="127" tIns="127" rIns="127" bIns="127" rtlCol="0" anchor="ctr">
            <a:normAutofit/>
          </a:bodyPr>
          <a:lstStyle/>
          <a:p>
            <a:pPr indent="0" marL="0">
              <a:buNone/>
            </a:pPr>
            <a:r>
              <a:rPr lang="en-US" sz="1200" b="1" dirty="0">
                <a:solidFill>
                  <a:srgbClr val="1F2225"/>
                </a:solidFill>
                <a:latin typeface="Georgia" pitchFamily="34" charset="0"/>
                <a:ea typeface="Georgia" pitchFamily="34" charset="-122"/>
                <a:cs typeface="Georgia" pitchFamily="34" charset="-120"/>
              </a:rPr>
              <a:t>Reservas organizadas y disponibilidad flexible</a:t>
            </a:r>
            <a:endParaRPr lang="en-US" sz="1200" dirty="0"/>
          </a:p>
        </p:txBody>
      </p:sp>
      <p:sp>
        <p:nvSpPr>
          <p:cNvPr id="14" name="Shape 12"/>
          <p:cNvSpPr/>
          <p:nvPr/>
        </p:nvSpPr>
        <p:spPr>
          <a:xfrm>
            <a:off x="4507992" y="3703320"/>
            <a:ext cx="3218688" cy="1325880"/>
          </a:xfrm>
          <a:prstGeom prst="roundRect">
            <a:avLst>
              <a:gd name="adj" fmla="val 5517"/>
            </a:avLst>
          </a:prstGeom>
          <a:solidFill>
            <a:srgbClr val="FFFDFC"/>
          </a:solidFill>
          <a:ln w="11430">
            <a:solidFill>
              <a:srgbClr val="E4D4C3"/>
            </a:solidFill>
            <a:prstDash val="solid"/>
          </a:ln>
        </p:spPr>
      </p:sp>
      <p:sp>
        <p:nvSpPr>
          <p:cNvPr id="15" name="Shape 13"/>
          <p:cNvSpPr/>
          <p:nvPr/>
        </p:nvSpPr>
        <p:spPr>
          <a:xfrm>
            <a:off x="4690872" y="3941064"/>
            <a:ext cx="502920" cy="502920"/>
          </a:xfrm>
          <a:prstGeom prst="ellipse">
            <a:avLst/>
          </a:prstGeom>
          <a:solidFill>
            <a:srgbClr val="B58A4C"/>
          </a:solidFill>
          <a:ln w="12700">
            <a:solidFill>
              <a:srgbClr val="B58A4C"/>
            </a:solidFill>
            <a:prstDash val="solid"/>
          </a:ln>
        </p:spPr>
      </p:sp>
      <p:sp>
        <p:nvSpPr>
          <p:cNvPr id="16" name="Text 14"/>
          <p:cNvSpPr/>
          <p:nvPr/>
        </p:nvSpPr>
        <p:spPr>
          <a:xfrm>
            <a:off x="4690872" y="4087368"/>
            <a:ext cx="50292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02</a:t>
            </a:r>
            <a:endParaRPr lang="en-US" sz="900" dirty="0"/>
          </a:p>
        </p:txBody>
      </p:sp>
      <p:sp>
        <p:nvSpPr>
          <p:cNvPr id="17" name="Text 15"/>
          <p:cNvSpPr/>
          <p:nvPr/>
        </p:nvSpPr>
        <p:spPr>
          <a:xfrm>
            <a:off x="5330952" y="3913632"/>
            <a:ext cx="2148840" cy="182880"/>
          </a:xfrm>
          <a:prstGeom prst="rect">
            <a:avLst/>
          </a:prstGeom>
          <a:noFill/>
          <a:ln/>
        </p:spPr>
        <p:txBody>
          <a:bodyPr wrap="square" lIns="0" tIns="0" rIns="0" bIns="0" rtlCol="0" anchor="ctr"/>
          <a:lstStyle/>
          <a:p>
            <a:pPr indent="0" marL="0">
              <a:buNone/>
            </a:pPr>
            <a:r>
              <a:rPr lang="en-US" sz="900" b="1" spc="80" kern="0" dirty="0">
                <a:solidFill>
                  <a:srgbClr val="B58A4C"/>
                </a:solidFill>
                <a:latin typeface="Arial" pitchFamily="34" charset="0"/>
                <a:ea typeface="Arial" pitchFamily="34" charset="-122"/>
                <a:cs typeface="Arial" pitchFamily="34" charset="-120"/>
              </a:rPr>
              <a:t>GESTIÓN DE CLIENTES</a:t>
            </a:r>
            <a:endParaRPr lang="en-US" sz="900" dirty="0"/>
          </a:p>
        </p:txBody>
      </p:sp>
      <p:sp>
        <p:nvSpPr>
          <p:cNvPr id="18" name="Text 16"/>
          <p:cNvSpPr/>
          <p:nvPr/>
        </p:nvSpPr>
        <p:spPr>
          <a:xfrm>
            <a:off x="5330952" y="4224528"/>
            <a:ext cx="2148840" cy="502920"/>
          </a:xfrm>
          <a:prstGeom prst="rect">
            <a:avLst/>
          </a:prstGeom>
          <a:noFill/>
          <a:ln/>
        </p:spPr>
        <p:txBody>
          <a:bodyPr wrap="square" lIns="127" tIns="127" rIns="127" bIns="127" rtlCol="0" anchor="ctr">
            <a:normAutofit/>
          </a:bodyPr>
          <a:lstStyle/>
          <a:p>
            <a:pPr indent="0" marL="0">
              <a:buNone/>
            </a:pPr>
            <a:r>
              <a:rPr lang="en-US" sz="1200" b="1" dirty="0">
                <a:solidFill>
                  <a:srgbClr val="1F2225"/>
                </a:solidFill>
                <a:latin typeface="Georgia" pitchFamily="34" charset="0"/>
                <a:ea typeface="Georgia" pitchFamily="34" charset="-122"/>
                <a:cs typeface="Georgia" pitchFamily="34" charset="-120"/>
              </a:rPr>
              <a:t>Información centralizada e historial de atención</a:t>
            </a:r>
            <a:endParaRPr lang="en-US" sz="1200" dirty="0"/>
          </a:p>
        </p:txBody>
      </p:sp>
      <p:sp>
        <p:nvSpPr>
          <p:cNvPr id="19" name="Shape 17"/>
          <p:cNvSpPr/>
          <p:nvPr/>
        </p:nvSpPr>
        <p:spPr>
          <a:xfrm>
            <a:off x="8074152" y="3703320"/>
            <a:ext cx="3218688" cy="1325880"/>
          </a:xfrm>
          <a:prstGeom prst="roundRect">
            <a:avLst>
              <a:gd name="adj" fmla="val 5517"/>
            </a:avLst>
          </a:prstGeom>
          <a:solidFill>
            <a:srgbClr val="FFFDFC"/>
          </a:solidFill>
          <a:ln w="11430">
            <a:solidFill>
              <a:srgbClr val="E4D4C3"/>
            </a:solidFill>
            <a:prstDash val="solid"/>
          </a:ln>
        </p:spPr>
      </p:sp>
      <p:sp>
        <p:nvSpPr>
          <p:cNvPr id="20" name="Shape 18"/>
          <p:cNvSpPr/>
          <p:nvPr/>
        </p:nvSpPr>
        <p:spPr>
          <a:xfrm>
            <a:off x="8257032" y="3941064"/>
            <a:ext cx="502920" cy="502920"/>
          </a:xfrm>
          <a:prstGeom prst="ellipse">
            <a:avLst/>
          </a:prstGeom>
          <a:solidFill>
            <a:srgbClr val="B58A4C"/>
          </a:solidFill>
          <a:ln w="12700">
            <a:solidFill>
              <a:srgbClr val="B58A4C"/>
            </a:solidFill>
            <a:prstDash val="solid"/>
          </a:ln>
        </p:spPr>
      </p:sp>
      <p:sp>
        <p:nvSpPr>
          <p:cNvPr id="21" name="Text 19"/>
          <p:cNvSpPr/>
          <p:nvPr/>
        </p:nvSpPr>
        <p:spPr>
          <a:xfrm>
            <a:off x="8257032" y="4087368"/>
            <a:ext cx="502920"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03</a:t>
            </a:r>
            <a:endParaRPr lang="en-US" sz="900" dirty="0"/>
          </a:p>
        </p:txBody>
      </p:sp>
      <p:sp>
        <p:nvSpPr>
          <p:cNvPr id="22" name="Text 20"/>
          <p:cNvSpPr/>
          <p:nvPr/>
        </p:nvSpPr>
        <p:spPr>
          <a:xfrm>
            <a:off x="8897112" y="3913632"/>
            <a:ext cx="2148840" cy="182880"/>
          </a:xfrm>
          <a:prstGeom prst="rect">
            <a:avLst/>
          </a:prstGeom>
          <a:noFill/>
          <a:ln/>
        </p:spPr>
        <p:txBody>
          <a:bodyPr wrap="square" lIns="0" tIns="0" rIns="0" bIns="0" rtlCol="0" anchor="ctr"/>
          <a:lstStyle/>
          <a:p>
            <a:pPr indent="0" marL="0">
              <a:buNone/>
            </a:pPr>
            <a:r>
              <a:rPr lang="en-US" sz="900" b="1" spc="80" kern="0" dirty="0">
                <a:solidFill>
                  <a:srgbClr val="B58A4C"/>
                </a:solidFill>
                <a:latin typeface="Arial" pitchFamily="34" charset="0"/>
                <a:ea typeface="Arial" pitchFamily="34" charset="-122"/>
                <a:cs typeface="Arial" pitchFamily="34" charset="-120"/>
              </a:rPr>
              <a:t>FIDELIZACIÓN</a:t>
            </a:r>
            <a:endParaRPr lang="en-US" sz="900" dirty="0"/>
          </a:p>
        </p:txBody>
      </p:sp>
      <p:sp>
        <p:nvSpPr>
          <p:cNvPr id="23" name="Text 21"/>
          <p:cNvSpPr/>
          <p:nvPr/>
        </p:nvSpPr>
        <p:spPr>
          <a:xfrm>
            <a:off x="8897112" y="4224528"/>
            <a:ext cx="2148840" cy="502920"/>
          </a:xfrm>
          <a:prstGeom prst="rect">
            <a:avLst/>
          </a:prstGeom>
          <a:noFill/>
          <a:ln/>
        </p:spPr>
        <p:txBody>
          <a:bodyPr wrap="square" lIns="127" tIns="127" rIns="127" bIns="127" rtlCol="0" anchor="ctr">
            <a:normAutofit/>
          </a:bodyPr>
          <a:lstStyle/>
          <a:p>
            <a:pPr indent="0" marL="0">
              <a:buNone/>
            </a:pPr>
            <a:r>
              <a:rPr lang="en-US" sz="1200" b="1" dirty="0">
                <a:solidFill>
                  <a:srgbClr val="1F2225"/>
                </a:solidFill>
                <a:latin typeface="Georgia" pitchFamily="34" charset="0"/>
                <a:ea typeface="Georgia" pitchFamily="34" charset="-122"/>
                <a:cs typeface="Georgia" pitchFamily="34" charset="-120"/>
              </a:rPr>
              <a:t>Seguimiento y atención más personalizada</a:t>
            </a:r>
            <a:endParaRPr lang="en-US" sz="1200" dirty="0"/>
          </a:p>
        </p:txBody>
      </p:sp>
      <p:sp>
        <p:nvSpPr>
          <p:cNvPr id="24" name="Shape 22"/>
          <p:cNvSpPr/>
          <p:nvPr/>
        </p:nvSpPr>
        <p:spPr>
          <a:xfrm>
            <a:off x="1874520" y="5532120"/>
            <a:ext cx="8458200" cy="0"/>
          </a:xfrm>
          <a:prstGeom prst="line">
            <a:avLst/>
          </a:prstGeom>
          <a:noFill/>
          <a:ln w="12700">
            <a:solidFill>
              <a:srgbClr val="C9A66D"/>
            </a:solidFill>
            <a:prstDash val="solid"/>
          </a:ln>
        </p:spPr>
      </p:sp>
      <p:sp>
        <p:nvSpPr>
          <p:cNvPr id="25" name="Text 23"/>
          <p:cNvSpPr/>
          <p:nvPr/>
        </p:nvSpPr>
        <p:spPr>
          <a:xfrm>
            <a:off x="1965960" y="5367528"/>
            <a:ext cx="1920240" cy="182880"/>
          </a:xfrm>
          <a:prstGeom prst="rect">
            <a:avLst/>
          </a:prstGeom>
          <a:noFill/>
          <a:ln/>
        </p:spPr>
        <p:txBody>
          <a:bodyPr wrap="square" lIns="0" tIns="0" rIns="0" bIns="0" rtlCol="0" anchor="ctr"/>
          <a:lstStyle/>
          <a:p>
            <a:pPr indent="0" marL="0">
              <a:buNone/>
            </a:pPr>
            <a:r>
              <a:rPr lang="en-US" sz="850" b="1" spc="100" kern="0" dirty="0">
                <a:solidFill>
                  <a:srgbClr val="B58A4C"/>
                </a:solidFill>
                <a:latin typeface="Arial" pitchFamily="34" charset="0"/>
                <a:ea typeface="Arial" pitchFamily="34" charset="-122"/>
                <a:cs typeface="Arial" pitchFamily="34" charset="-120"/>
              </a:rPr>
              <a:t>Resultado esperado</a:t>
            </a:r>
            <a:endParaRPr lang="en-US" sz="850" dirty="0"/>
          </a:p>
        </p:txBody>
      </p:sp>
      <p:sp>
        <p:nvSpPr>
          <p:cNvPr id="26" name="Text 24"/>
          <p:cNvSpPr/>
          <p:nvPr/>
        </p:nvSpPr>
        <p:spPr>
          <a:xfrm>
            <a:off x="3794760" y="5294376"/>
            <a:ext cx="6309360" cy="338328"/>
          </a:xfrm>
          <a:prstGeom prst="rect">
            <a:avLst/>
          </a:prstGeom>
          <a:noFill/>
          <a:ln/>
        </p:spPr>
        <p:txBody>
          <a:bodyPr wrap="square" lIns="0" tIns="0" rIns="0" bIns="0" rtlCol="0" anchor="ctr"/>
          <a:lstStyle/>
          <a:p>
            <a:pPr algn="r" indent="0" marL="0">
              <a:buNone/>
            </a:pPr>
            <a:r>
              <a:rPr lang="en-US" sz="1500" i="1" dirty="0">
                <a:solidFill>
                  <a:srgbClr val="1F2225"/>
                </a:solidFill>
                <a:latin typeface="Georgia" pitchFamily="34" charset="0"/>
                <a:ea typeface="Georgia" pitchFamily="34" charset="-122"/>
                <a:cs typeface="Georgia" pitchFamily="34" charset="-120"/>
              </a:rPr>
              <a:t>Una operación más eficiente y una atención más personalizada.</a:t>
            </a:r>
            <a:endParaRPr lang="en-US" sz="1500" dirty="0"/>
          </a:p>
        </p:txBody>
      </p:sp>
      <p:sp>
        <p:nvSpPr>
          <p:cNvPr id="25" name="Slide Number Placeholder 0"/>
          <p:cNvSpPr>
            <a:spLocks noGrp="1"/>
          </p:cNvSpPr>
          <p:nvPr>
            <p:ph type="sldNum" sz="quarter" idx="4294967295"/>
          </p:nvPr>
        </p:nvSpPr>
        <p:spPr>
          <a:xfrm>
            <a:off x="11759184" y="228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B4905D"/>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502920"/>
            <a:ext cx="10789920" cy="502920"/>
          </a:xfrm>
          <a:prstGeom prst="rect">
            <a:avLst/>
          </a:prstGeom>
          <a:noFill/>
          <a:ln/>
        </p:spPr>
        <p:txBody>
          <a:bodyPr wrap="square" lIns="0" tIns="0" rIns="0" bIns="0" rtlCol="0" anchor="ctr"/>
          <a:lstStyle/>
          <a:p>
            <a:pPr indent="0" marL="0">
              <a:buNone/>
            </a:pPr>
            <a:r>
              <a:rPr lang="en-US" sz="2700" b="1" dirty="0">
                <a:solidFill>
                  <a:srgbClr val="1F2225"/>
                </a:solidFill>
                <a:latin typeface="Georgia" pitchFamily="34" charset="0"/>
                <a:ea typeface="Georgia" pitchFamily="34" charset="-122"/>
                <a:cs typeface="Georgia" pitchFamily="34" charset="-120"/>
              </a:rPr>
              <a:t>Objetivos específicos</a:t>
            </a:r>
            <a:endParaRPr lang="en-US" sz="2700" dirty="0"/>
          </a:p>
        </p:txBody>
      </p:sp>
      <p:sp>
        <p:nvSpPr>
          <p:cNvPr id="3" name="Shape 1"/>
          <p:cNvSpPr/>
          <p:nvPr/>
        </p:nvSpPr>
        <p:spPr>
          <a:xfrm>
            <a:off x="685800" y="1115568"/>
            <a:ext cx="1645920" cy="0"/>
          </a:xfrm>
          <a:prstGeom prst="line">
            <a:avLst/>
          </a:prstGeom>
          <a:noFill/>
          <a:ln w="15875">
            <a:solidFill>
              <a:srgbClr val="B58A4C"/>
            </a:solidFill>
            <a:prstDash val="solid"/>
          </a:ln>
        </p:spPr>
      </p:sp>
      <p:sp>
        <p:nvSpPr>
          <p:cNvPr id="4" name="Text 2"/>
          <p:cNvSpPr/>
          <p:nvPr/>
        </p:nvSpPr>
        <p:spPr>
          <a:xfrm>
            <a:off x="2450592" y="941832"/>
            <a:ext cx="7955280" cy="256032"/>
          </a:xfrm>
          <a:prstGeom prst="rect">
            <a:avLst/>
          </a:prstGeom>
          <a:noFill/>
          <a:ln/>
        </p:spPr>
        <p:txBody>
          <a:bodyPr wrap="square" lIns="0" tIns="0" rIns="0" bIns="0" rtlCol="0" anchor="ctr"/>
          <a:lstStyle/>
          <a:p>
            <a:pPr indent="0" marL="0">
              <a:buNone/>
            </a:pPr>
            <a:r>
              <a:rPr lang="en-US" sz="1200" i="1" dirty="0">
                <a:solidFill>
                  <a:srgbClr val="8D6A3A"/>
                </a:solidFill>
                <a:latin typeface="Georgia" pitchFamily="34" charset="0"/>
                <a:ea typeface="Georgia" pitchFamily="34" charset="-122"/>
                <a:cs typeface="Georgia" pitchFamily="34" charset="-120"/>
              </a:rPr>
              <a:t>Ruta de construcción de la solución</a:t>
            </a:r>
            <a:endParaRPr lang="en-US" sz="1200" dirty="0"/>
          </a:p>
        </p:txBody>
      </p:sp>
      <p:sp>
        <p:nvSpPr>
          <p:cNvPr id="5" name="Shape 3"/>
          <p:cNvSpPr/>
          <p:nvPr/>
        </p:nvSpPr>
        <p:spPr>
          <a:xfrm>
            <a:off x="438912" y="1517904"/>
            <a:ext cx="2185416" cy="3511296"/>
          </a:xfrm>
          <a:prstGeom prst="roundRect">
            <a:avLst>
              <a:gd name="adj" fmla="val 3347"/>
            </a:avLst>
          </a:prstGeom>
          <a:solidFill>
            <a:srgbClr val="FFFDFC"/>
          </a:solidFill>
          <a:ln w="11430">
            <a:solidFill>
              <a:srgbClr val="E4D4C3"/>
            </a:solidFill>
            <a:prstDash val="solid"/>
          </a:ln>
        </p:spPr>
      </p:sp>
      <p:sp>
        <p:nvSpPr>
          <p:cNvPr id="6" name="Shape 4"/>
          <p:cNvSpPr/>
          <p:nvPr/>
        </p:nvSpPr>
        <p:spPr>
          <a:xfrm>
            <a:off x="1316736" y="1362456"/>
            <a:ext cx="429768" cy="429768"/>
          </a:xfrm>
          <a:prstGeom prst="ellipse">
            <a:avLst/>
          </a:prstGeom>
          <a:solidFill>
            <a:srgbClr val="B58A4C"/>
          </a:solidFill>
          <a:ln w="12700">
            <a:solidFill>
              <a:srgbClr val="B58A4C"/>
            </a:solidFill>
            <a:prstDash val="solid"/>
          </a:ln>
        </p:spPr>
      </p:sp>
      <p:sp>
        <p:nvSpPr>
          <p:cNvPr id="7" name="Text 5"/>
          <p:cNvSpPr/>
          <p:nvPr/>
        </p:nvSpPr>
        <p:spPr>
          <a:xfrm>
            <a:off x="1316736" y="1426464"/>
            <a:ext cx="4297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01</a:t>
            </a:r>
            <a:endParaRPr lang="en-US" sz="1000" dirty="0"/>
          </a:p>
        </p:txBody>
      </p:sp>
      <p:sp>
        <p:nvSpPr>
          <p:cNvPr id="8" name="Text 6"/>
          <p:cNvSpPr/>
          <p:nvPr/>
        </p:nvSpPr>
        <p:spPr>
          <a:xfrm>
            <a:off x="667512" y="2084832"/>
            <a:ext cx="1728216" cy="182880"/>
          </a:xfrm>
          <a:prstGeom prst="rect">
            <a:avLst/>
          </a:prstGeom>
          <a:noFill/>
          <a:ln/>
        </p:spPr>
        <p:txBody>
          <a:bodyPr wrap="square" lIns="0" tIns="0" rIns="0" bIns="0" rtlCol="0" anchor="ctr"/>
          <a:lstStyle/>
          <a:p>
            <a:pPr algn="ctr" indent="0" marL="0">
              <a:buNone/>
            </a:pPr>
            <a:r>
              <a:rPr lang="en-US" sz="830" b="1" spc="110" kern="0" dirty="0">
                <a:solidFill>
                  <a:srgbClr val="B58A4C"/>
                </a:solidFill>
                <a:latin typeface="Arial" pitchFamily="34" charset="0"/>
                <a:ea typeface="Arial" pitchFamily="34" charset="-122"/>
                <a:cs typeface="Arial" pitchFamily="34" charset="-120"/>
              </a:rPr>
              <a:t>REQUISITOS</a:t>
            </a:r>
            <a:endParaRPr lang="en-US" sz="830" dirty="0"/>
          </a:p>
        </p:txBody>
      </p:sp>
      <p:sp>
        <p:nvSpPr>
          <p:cNvPr id="9" name="Shape 7"/>
          <p:cNvSpPr/>
          <p:nvPr/>
        </p:nvSpPr>
        <p:spPr>
          <a:xfrm>
            <a:off x="1097280" y="2478024"/>
            <a:ext cx="868680" cy="0"/>
          </a:xfrm>
          <a:prstGeom prst="line">
            <a:avLst/>
          </a:prstGeom>
          <a:noFill/>
          <a:ln w="11430">
            <a:solidFill>
              <a:srgbClr val="C9A66D"/>
            </a:solidFill>
            <a:prstDash val="solid"/>
          </a:ln>
        </p:spPr>
      </p:sp>
      <p:sp>
        <p:nvSpPr>
          <p:cNvPr id="10" name="Text 8"/>
          <p:cNvSpPr/>
          <p:nvPr/>
        </p:nvSpPr>
        <p:spPr>
          <a:xfrm>
            <a:off x="713232" y="2679192"/>
            <a:ext cx="1636776" cy="1600200"/>
          </a:xfrm>
          <a:prstGeom prst="rect">
            <a:avLst/>
          </a:prstGeom>
          <a:noFill/>
          <a:ln/>
        </p:spPr>
        <p:txBody>
          <a:bodyPr wrap="square" lIns="381" tIns="381" rIns="381" bIns="381" rtlCol="0" anchor="ctr">
            <a:normAutofit/>
          </a:bodyPr>
          <a:lstStyle/>
          <a:p>
            <a:pPr algn="ctr" indent="0" marL="0">
              <a:buNone/>
            </a:pPr>
            <a:r>
              <a:rPr lang="en-US" sz="1320" b="1" dirty="0">
                <a:solidFill>
                  <a:srgbClr val="1F2225"/>
                </a:solidFill>
                <a:latin typeface="Georgia" pitchFamily="34" charset="0"/>
                <a:ea typeface="Georgia" pitchFamily="34" charset="-122"/>
                <a:cs typeface="Georgia" pitchFamily="34" charset="-120"/>
              </a:rPr>
              <a:t>Levantar y documentar los requerimientos funcionales y no funcionales del sistema.</a:t>
            </a:r>
            <a:endParaRPr lang="en-US" sz="1320" dirty="0"/>
          </a:p>
        </p:txBody>
      </p:sp>
      <p:sp>
        <p:nvSpPr>
          <p:cNvPr id="11" name="Shape 9"/>
          <p:cNvSpPr/>
          <p:nvPr/>
        </p:nvSpPr>
        <p:spPr>
          <a:xfrm>
            <a:off x="923544" y="4425696"/>
            <a:ext cx="1216152" cy="347472"/>
          </a:xfrm>
          <a:prstGeom prst="roundRect">
            <a:avLst/>
          </a:prstGeom>
          <a:solidFill>
            <a:srgbClr val="F8EFE8"/>
          </a:solidFill>
          <a:ln w="12700">
            <a:solidFill>
              <a:srgbClr val="F8EFE8"/>
            </a:solidFill>
            <a:prstDash val="solid"/>
          </a:ln>
        </p:spPr>
      </p:sp>
      <p:sp>
        <p:nvSpPr>
          <p:cNvPr id="12" name="Text 10"/>
          <p:cNvSpPr/>
          <p:nvPr/>
        </p:nvSpPr>
        <p:spPr>
          <a:xfrm>
            <a:off x="923544" y="4535424"/>
            <a:ext cx="1216152" cy="109728"/>
          </a:xfrm>
          <a:prstGeom prst="rect">
            <a:avLst/>
          </a:prstGeom>
          <a:noFill/>
          <a:ln/>
        </p:spPr>
        <p:txBody>
          <a:bodyPr wrap="square" lIns="0" tIns="0" rIns="0" bIns="0" rtlCol="0" anchor="ctr"/>
          <a:lstStyle/>
          <a:p>
            <a:pPr algn="ctr" indent="0" marL="0">
              <a:buNone/>
            </a:pPr>
            <a:r>
              <a:rPr lang="en-US" sz="800" b="1" spc="80" kern="0" dirty="0">
                <a:solidFill>
                  <a:srgbClr val="8F693C"/>
                </a:solidFill>
                <a:latin typeface="Arial" pitchFamily="34" charset="0"/>
                <a:ea typeface="Arial" pitchFamily="34" charset="-122"/>
                <a:cs typeface="Arial" pitchFamily="34" charset="-120"/>
              </a:rPr>
              <a:t>Levantar</a:t>
            </a:r>
            <a:endParaRPr lang="en-US" sz="800" dirty="0"/>
          </a:p>
        </p:txBody>
      </p:sp>
      <p:sp>
        <p:nvSpPr>
          <p:cNvPr id="13" name="Shape 11"/>
          <p:cNvSpPr/>
          <p:nvPr/>
        </p:nvSpPr>
        <p:spPr>
          <a:xfrm>
            <a:off x="2770632" y="1517904"/>
            <a:ext cx="2185416" cy="3511296"/>
          </a:xfrm>
          <a:prstGeom prst="roundRect">
            <a:avLst>
              <a:gd name="adj" fmla="val 3347"/>
            </a:avLst>
          </a:prstGeom>
          <a:solidFill>
            <a:srgbClr val="FFFDFC"/>
          </a:solidFill>
          <a:ln w="11430">
            <a:solidFill>
              <a:srgbClr val="E4D4C3"/>
            </a:solidFill>
            <a:prstDash val="solid"/>
          </a:ln>
        </p:spPr>
      </p:sp>
      <p:sp>
        <p:nvSpPr>
          <p:cNvPr id="14" name="Shape 12"/>
          <p:cNvSpPr/>
          <p:nvPr/>
        </p:nvSpPr>
        <p:spPr>
          <a:xfrm>
            <a:off x="3648456" y="1362456"/>
            <a:ext cx="429768" cy="429768"/>
          </a:xfrm>
          <a:prstGeom prst="ellipse">
            <a:avLst/>
          </a:prstGeom>
          <a:solidFill>
            <a:srgbClr val="B58A4C"/>
          </a:solidFill>
          <a:ln w="12700">
            <a:solidFill>
              <a:srgbClr val="B58A4C"/>
            </a:solidFill>
            <a:prstDash val="solid"/>
          </a:ln>
        </p:spPr>
      </p:sp>
      <p:sp>
        <p:nvSpPr>
          <p:cNvPr id="15" name="Text 13"/>
          <p:cNvSpPr/>
          <p:nvPr/>
        </p:nvSpPr>
        <p:spPr>
          <a:xfrm>
            <a:off x="3648456" y="1426464"/>
            <a:ext cx="4297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02</a:t>
            </a:r>
            <a:endParaRPr lang="en-US" sz="1000" dirty="0"/>
          </a:p>
        </p:txBody>
      </p:sp>
      <p:sp>
        <p:nvSpPr>
          <p:cNvPr id="16" name="Text 14"/>
          <p:cNvSpPr/>
          <p:nvPr/>
        </p:nvSpPr>
        <p:spPr>
          <a:xfrm>
            <a:off x="2999232" y="2084832"/>
            <a:ext cx="1728216" cy="182880"/>
          </a:xfrm>
          <a:prstGeom prst="rect">
            <a:avLst/>
          </a:prstGeom>
          <a:noFill/>
          <a:ln/>
        </p:spPr>
        <p:txBody>
          <a:bodyPr wrap="square" lIns="0" tIns="0" rIns="0" bIns="0" rtlCol="0" anchor="ctr"/>
          <a:lstStyle/>
          <a:p>
            <a:pPr algn="ctr" indent="0" marL="0">
              <a:buNone/>
            </a:pPr>
            <a:r>
              <a:rPr lang="en-US" sz="830" b="1" spc="110" kern="0" dirty="0">
                <a:solidFill>
                  <a:srgbClr val="B58A4C"/>
                </a:solidFill>
                <a:latin typeface="Arial" pitchFamily="34" charset="0"/>
                <a:ea typeface="Arial" pitchFamily="34" charset="-122"/>
                <a:cs typeface="Arial" pitchFamily="34" charset="-120"/>
              </a:rPr>
              <a:t>DATOS</a:t>
            </a:r>
            <a:endParaRPr lang="en-US" sz="830" dirty="0"/>
          </a:p>
        </p:txBody>
      </p:sp>
      <p:sp>
        <p:nvSpPr>
          <p:cNvPr id="17" name="Shape 15"/>
          <p:cNvSpPr/>
          <p:nvPr/>
        </p:nvSpPr>
        <p:spPr>
          <a:xfrm>
            <a:off x="3429000" y="2478024"/>
            <a:ext cx="868680" cy="0"/>
          </a:xfrm>
          <a:prstGeom prst="line">
            <a:avLst/>
          </a:prstGeom>
          <a:noFill/>
          <a:ln w="11430">
            <a:solidFill>
              <a:srgbClr val="C9A66D"/>
            </a:solidFill>
            <a:prstDash val="solid"/>
          </a:ln>
        </p:spPr>
      </p:sp>
      <p:sp>
        <p:nvSpPr>
          <p:cNvPr id="18" name="Text 16"/>
          <p:cNvSpPr/>
          <p:nvPr/>
        </p:nvSpPr>
        <p:spPr>
          <a:xfrm>
            <a:off x="3044952" y="2679192"/>
            <a:ext cx="1636776" cy="1600200"/>
          </a:xfrm>
          <a:prstGeom prst="rect">
            <a:avLst/>
          </a:prstGeom>
          <a:noFill/>
          <a:ln/>
        </p:spPr>
        <p:txBody>
          <a:bodyPr wrap="square" lIns="381" tIns="381" rIns="381" bIns="381" rtlCol="0" anchor="ctr">
            <a:normAutofit/>
          </a:bodyPr>
          <a:lstStyle/>
          <a:p>
            <a:pPr algn="ctr" indent="0" marL="0">
              <a:buNone/>
            </a:pPr>
            <a:r>
              <a:rPr lang="en-US" sz="1320" b="1" dirty="0">
                <a:solidFill>
                  <a:srgbClr val="1F2225"/>
                </a:solidFill>
                <a:latin typeface="Georgia" pitchFamily="34" charset="0"/>
                <a:ea typeface="Georgia" pitchFamily="34" charset="-122"/>
                <a:cs typeface="Georgia" pitchFamily="34" charset="-120"/>
              </a:rPr>
              <a:t>Diseñar el modelo relacional para clientes, servicios, disponibilidad e historial de atención.</a:t>
            </a:r>
            <a:endParaRPr lang="en-US" sz="1320" dirty="0"/>
          </a:p>
        </p:txBody>
      </p:sp>
      <p:sp>
        <p:nvSpPr>
          <p:cNvPr id="19" name="Shape 17"/>
          <p:cNvSpPr/>
          <p:nvPr/>
        </p:nvSpPr>
        <p:spPr>
          <a:xfrm>
            <a:off x="3255264" y="4425696"/>
            <a:ext cx="1216152" cy="347472"/>
          </a:xfrm>
          <a:prstGeom prst="roundRect">
            <a:avLst/>
          </a:prstGeom>
          <a:solidFill>
            <a:srgbClr val="F8EFE8"/>
          </a:solidFill>
          <a:ln w="12700">
            <a:solidFill>
              <a:srgbClr val="F8EFE8"/>
            </a:solidFill>
            <a:prstDash val="solid"/>
          </a:ln>
        </p:spPr>
      </p:sp>
      <p:sp>
        <p:nvSpPr>
          <p:cNvPr id="20" name="Text 18"/>
          <p:cNvSpPr/>
          <p:nvPr/>
        </p:nvSpPr>
        <p:spPr>
          <a:xfrm>
            <a:off x="3255264" y="4535424"/>
            <a:ext cx="1216152" cy="109728"/>
          </a:xfrm>
          <a:prstGeom prst="rect">
            <a:avLst/>
          </a:prstGeom>
          <a:noFill/>
          <a:ln/>
        </p:spPr>
        <p:txBody>
          <a:bodyPr wrap="square" lIns="0" tIns="0" rIns="0" bIns="0" rtlCol="0" anchor="ctr"/>
          <a:lstStyle/>
          <a:p>
            <a:pPr algn="ctr" indent="0" marL="0">
              <a:buNone/>
            </a:pPr>
            <a:r>
              <a:rPr lang="en-US" sz="800" b="1" spc="80" kern="0" dirty="0">
                <a:solidFill>
                  <a:srgbClr val="8F693C"/>
                </a:solidFill>
                <a:latin typeface="Arial" pitchFamily="34" charset="0"/>
                <a:ea typeface="Arial" pitchFamily="34" charset="-122"/>
                <a:cs typeface="Arial" pitchFamily="34" charset="-120"/>
              </a:rPr>
              <a:t>Diseñar</a:t>
            </a:r>
            <a:endParaRPr lang="en-US" sz="800" dirty="0"/>
          </a:p>
        </p:txBody>
      </p:sp>
      <p:sp>
        <p:nvSpPr>
          <p:cNvPr id="21" name="Shape 19"/>
          <p:cNvSpPr/>
          <p:nvPr/>
        </p:nvSpPr>
        <p:spPr>
          <a:xfrm>
            <a:off x="5102352" y="1517904"/>
            <a:ext cx="2185416" cy="3511296"/>
          </a:xfrm>
          <a:prstGeom prst="roundRect">
            <a:avLst>
              <a:gd name="adj" fmla="val 3347"/>
            </a:avLst>
          </a:prstGeom>
          <a:solidFill>
            <a:srgbClr val="FFFDFC"/>
          </a:solidFill>
          <a:ln w="11430">
            <a:solidFill>
              <a:srgbClr val="E4D4C3"/>
            </a:solidFill>
            <a:prstDash val="solid"/>
          </a:ln>
        </p:spPr>
      </p:sp>
      <p:sp>
        <p:nvSpPr>
          <p:cNvPr id="22" name="Shape 20"/>
          <p:cNvSpPr/>
          <p:nvPr/>
        </p:nvSpPr>
        <p:spPr>
          <a:xfrm>
            <a:off x="5980176" y="1362456"/>
            <a:ext cx="429768" cy="429768"/>
          </a:xfrm>
          <a:prstGeom prst="ellipse">
            <a:avLst/>
          </a:prstGeom>
          <a:solidFill>
            <a:srgbClr val="B58A4C"/>
          </a:solidFill>
          <a:ln w="12700">
            <a:solidFill>
              <a:srgbClr val="B58A4C"/>
            </a:solidFill>
            <a:prstDash val="solid"/>
          </a:ln>
        </p:spPr>
      </p:sp>
      <p:sp>
        <p:nvSpPr>
          <p:cNvPr id="23" name="Text 21"/>
          <p:cNvSpPr/>
          <p:nvPr/>
        </p:nvSpPr>
        <p:spPr>
          <a:xfrm>
            <a:off x="5980176" y="1426464"/>
            <a:ext cx="4297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03</a:t>
            </a:r>
            <a:endParaRPr lang="en-US" sz="1000" dirty="0"/>
          </a:p>
        </p:txBody>
      </p:sp>
      <p:sp>
        <p:nvSpPr>
          <p:cNvPr id="24" name="Text 22"/>
          <p:cNvSpPr/>
          <p:nvPr/>
        </p:nvSpPr>
        <p:spPr>
          <a:xfrm>
            <a:off x="5330952" y="2084832"/>
            <a:ext cx="1728216" cy="182880"/>
          </a:xfrm>
          <a:prstGeom prst="rect">
            <a:avLst/>
          </a:prstGeom>
          <a:noFill/>
          <a:ln/>
        </p:spPr>
        <p:txBody>
          <a:bodyPr wrap="square" lIns="0" tIns="0" rIns="0" bIns="0" rtlCol="0" anchor="ctr"/>
          <a:lstStyle/>
          <a:p>
            <a:pPr algn="ctr" indent="0" marL="0">
              <a:buNone/>
            </a:pPr>
            <a:r>
              <a:rPr lang="en-US" sz="830" b="1" spc="110" kern="0" dirty="0">
                <a:solidFill>
                  <a:srgbClr val="B58A4C"/>
                </a:solidFill>
                <a:latin typeface="Arial" pitchFamily="34" charset="0"/>
                <a:ea typeface="Arial" pitchFamily="34" charset="-122"/>
                <a:cs typeface="Arial" pitchFamily="34" charset="-120"/>
              </a:rPr>
              <a:t>FRONTEND</a:t>
            </a:r>
            <a:endParaRPr lang="en-US" sz="830" dirty="0"/>
          </a:p>
        </p:txBody>
      </p:sp>
      <p:sp>
        <p:nvSpPr>
          <p:cNvPr id="25" name="Shape 23"/>
          <p:cNvSpPr/>
          <p:nvPr/>
        </p:nvSpPr>
        <p:spPr>
          <a:xfrm>
            <a:off x="5760720" y="2478024"/>
            <a:ext cx="868680" cy="0"/>
          </a:xfrm>
          <a:prstGeom prst="line">
            <a:avLst/>
          </a:prstGeom>
          <a:noFill/>
          <a:ln w="11430">
            <a:solidFill>
              <a:srgbClr val="C9A66D"/>
            </a:solidFill>
            <a:prstDash val="solid"/>
          </a:ln>
        </p:spPr>
      </p:sp>
      <p:sp>
        <p:nvSpPr>
          <p:cNvPr id="26" name="Text 24"/>
          <p:cNvSpPr/>
          <p:nvPr/>
        </p:nvSpPr>
        <p:spPr>
          <a:xfrm>
            <a:off x="5376672" y="2679192"/>
            <a:ext cx="1636776" cy="1600200"/>
          </a:xfrm>
          <a:prstGeom prst="rect">
            <a:avLst/>
          </a:prstGeom>
          <a:noFill/>
          <a:ln/>
        </p:spPr>
        <p:txBody>
          <a:bodyPr wrap="square" lIns="381" tIns="381" rIns="381" bIns="381" rtlCol="0" anchor="ctr">
            <a:normAutofit/>
          </a:bodyPr>
          <a:lstStyle/>
          <a:p>
            <a:pPr algn="ctr" indent="0" marL="0">
              <a:buNone/>
            </a:pPr>
            <a:r>
              <a:rPr lang="en-US" sz="1320" b="1" dirty="0">
                <a:solidFill>
                  <a:srgbClr val="1F2225"/>
                </a:solidFill>
                <a:latin typeface="Georgia" pitchFamily="34" charset="0"/>
                <a:ea typeface="Georgia" pitchFamily="34" charset="-122"/>
                <a:cs typeface="Georgia" pitchFamily="34" charset="-120"/>
              </a:rPr>
              <a:t>Construir una interfaz web responsiva orientada a dispositivos móviles.</a:t>
            </a:r>
            <a:endParaRPr lang="en-US" sz="1320" dirty="0"/>
          </a:p>
        </p:txBody>
      </p:sp>
      <p:sp>
        <p:nvSpPr>
          <p:cNvPr id="27" name="Shape 25"/>
          <p:cNvSpPr/>
          <p:nvPr/>
        </p:nvSpPr>
        <p:spPr>
          <a:xfrm>
            <a:off x="5586984" y="4425696"/>
            <a:ext cx="1216152" cy="347472"/>
          </a:xfrm>
          <a:prstGeom prst="roundRect">
            <a:avLst/>
          </a:prstGeom>
          <a:solidFill>
            <a:srgbClr val="F8EFE8"/>
          </a:solidFill>
          <a:ln w="12700">
            <a:solidFill>
              <a:srgbClr val="F8EFE8"/>
            </a:solidFill>
            <a:prstDash val="solid"/>
          </a:ln>
        </p:spPr>
      </p:sp>
      <p:sp>
        <p:nvSpPr>
          <p:cNvPr id="28" name="Text 26"/>
          <p:cNvSpPr/>
          <p:nvPr/>
        </p:nvSpPr>
        <p:spPr>
          <a:xfrm>
            <a:off x="5586984" y="4535424"/>
            <a:ext cx="1216152" cy="109728"/>
          </a:xfrm>
          <a:prstGeom prst="rect">
            <a:avLst/>
          </a:prstGeom>
          <a:noFill/>
          <a:ln/>
        </p:spPr>
        <p:txBody>
          <a:bodyPr wrap="square" lIns="0" tIns="0" rIns="0" bIns="0" rtlCol="0" anchor="ctr"/>
          <a:lstStyle/>
          <a:p>
            <a:pPr algn="ctr" indent="0" marL="0">
              <a:buNone/>
            </a:pPr>
            <a:r>
              <a:rPr lang="en-US" sz="800" b="1" spc="80" kern="0" dirty="0">
                <a:solidFill>
                  <a:srgbClr val="8F693C"/>
                </a:solidFill>
                <a:latin typeface="Arial" pitchFamily="34" charset="0"/>
                <a:ea typeface="Arial" pitchFamily="34" charset="-122"/>
                <a:cs typeface="Arial" pitchFamily="34" charset="-120"/>
              </a:rPr>
              <a:t>Construir</a:t>
            </a:r>
            <a:endParaRPr lang="en-US" sz="800" dirty="0"/>
          </a:p>
        </p:txBody>
      </p:sp>
      <p:sp>
        <p:nvSpPr>
          <p:cNvPr id="29" name="Shape 27"/>
          <p:cNvSpPr/>
          <p:nvPr/>
        </p:nvSpPr>
        <p:spPr>
          <a:xfrm>
            <a:off x="7434072" y="1517904"/>
            <a:ext cx="2185416" cy="3511296"/>
          </a:xfrm>
          <a:prstGeom prst="roundRect">
            <a:avLst>
              <a:gd name="adj" fmla="val 3347"/>
            </a:avLst>
          </a:prstGeom>
          <a:solidFill>
            <a:srgbClr val="FFFDFC"/>
          </a:solidFill>
          <a:ln w="11430">
            <a:solidFill>
              <a:srgbClr val="E4D4C3"/>
            </a:solidFill>
            <a:prstDash val="solid"/>
          </a:ln>
        </p:spPr>
      </p:sp>
      <p:sp>
        <p:nvSpPr>
          <p:cNvPr id="30" name="Shape 28"/>
          <p:cNvSpPr/>
          <p:nvPr/>
        </p:nvSpPr>
        <p:spPr>
          <a:xfrm>
            <a:off x="8311896" y="1362456"/>
            <a:ext cx="429768" cy="429768"/>
          </a:xfrm>
          <a:prstGeom prst="ellipse">
            <a:avLst/>
          </a:prstGeom>
          <a:solidFill>
            <a:srgbClr val="B58A4C"/>
          </a:solidFill>
          <a:ln w="12700">
            <a:solidFill>
              <a:srgbClr val="B58A4C"/>
            </a:solidFill>
            <a:prstDash val="solid"/>
          </a:ln>
        </p:spPr>
      </p:sp>
      <p:sp>
        <p:nvSpPr>
          <p:cNvPr id="31" name="Text 29"/>
          <p:cNvSpPr/>
          <p:nvPr/>
        </p:nvSpPr>
        <p:spPr>
          <a:xfrm>
            <a:off x="8311896" y="1426464"/>
            <a:ext cx="4297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04</a:t>
            </a:r>
            <a:endParaRPr lang="en-US" sz="1000" dirty="0"/>
          </a:p>
        </p:txBody>
      </p:sp>
      <p:sp>
        <p:nvSpPr>
          <p:cNvPr id="32" name="Text 30"/>
          <p:cNvSpPr/>
          <p:nvPr/>
        </p:nvSpPr>
        <p:spPr>
          <a:xfrm>
            <a:off x="7662672" y="2084832"/>
            <a:ext cx="1728216" cy="182880"/>
          </a:xfrm>
          <a:prstGeom prst="rect">
            <a:avLst/>
          </a:prstGeom>
          <a:noFill/>
          <a:ln/>
        </p:spPr>
        <p:txBody>
          <a:bodyPr wrap="square" lIns="0" tIns="0" rIns="0" bIns="0" rtlCol="0" anchor="ctr"/>
          <a:lstStyle/>
          <a:p>
            <a:pPr algn="ctr" indent="0" marL="0">
              <a:buNone/>
            </a:pPr>
            <a:r>
              <a:rPr lang="en-US" sz="830" b="1" spc="110" kern="0" dirty="0">
                <a:solidFill>
                  <a:srgbClr val="B58A4C"/>
                </a:solidFill>
                <a:latin typeface="Arial" pitchFamily="34" charset="0"/>
                <a:ea typeface="Arial" pitchFamily="34" charset="-122"/>
                <a:cs typeface="Arial" pitchFamily="34" charset="-120"/>
              </a:rPr>
              <a:t>BACKEND</a:t>
            </a:r>
            <a:endParaRPr lang="en-US" sz="830" dirty="0"/>
          </a:p>
        </p:txBody>
      </p:sp>
      <p:sp>
        <p:nvSpPr>
          <p:cNvPr id="33" name="Shape 31"/>
          <p:cNvSpPr/>
          <p:nvPr/>
        </p:nvSpPr>
        <p:spPr>
          <a:xfrm>
            <a:off x="8092440" y="2478024"/>
            <a:ext cx="868680" cy="0"/>
          </a:xfrm>
          <a:prstGeom prst="line">
            <a:avLst/>
          </a:prstGeom>
          <a:noFill/>
          <a:ln w="11430">
            <a:solidFill>
              <a:srgbClr val="C9A66D"/>
            </a:solidFill>
            <a:prstDash val="solid"/>
          </a:ln>
        </p:spPr>
      </p:sp>
      <p:sp>
        <p:nvSpPr>
          <p:cNvPr id="34" name="Text 32"/>
          <p:cNvSpPr/>
          <p:nvPr/>
        </p:nvSpPr>
        <p:spPr>
          <a:xfrm>
            <a:off x="7708392" y="2679192"/>
            <a:ext cx="1636776" cy="1600200"/>
          </a:xfrm>
          <a:prstGeom prst="rect">
            <a:avLst/>
          </a:prstGeom>
          <a:noFill/>
          <a:ln/>
        </p:spPr>
        <p:txBody>
          <a:bodyPr wrap="square" lIns="381" tIns="381" rIns="381" bIns="381" rtlCol="0" anchor="ctr">
            <a:normAutofit/>
          </a:bodyPr>
          <a:lstStyle/>
          <a:p>
            <a:pPr algn="ctr" indent="0" marL="0">
              <a:buNone/>
            </a:pPr>
            <a:r>
              <a:rPr lang="en-US" sz="1320" b="1" dirty="0">
                <a:solidFill>
                  <a:srgbClr val="1F2225"/>
                </a:solidFill>
                <a:latin typeface="Georgia" pitchFamily="34" charset="0"/>
                <a:ea typeface="Georgia" pitchFamily="34" charset="-122"/>
                <a:cs typeface="Georgia" pitchFamily="34" charset="-120"/>
              </a:rPr>
              <a:t>Desarrollar el Back-end y las APIs para integrar la solución y administrar las reglas del negocio.</a:t>
            </a:r>
            <a:endParaRPr lang="en-US" sz="1320" dirty="0"/>
          </a:p>
        </p:txBody>
      </p:sp>
      <p:sp>
        <p:nvSpPr>
          <p:cNvPr id="35" name="Shape 33"/>
          <p:cNvSpPr/>
          <p:nvPr/>
        </p:nvSpPr>
        <p:spPr>
          <a:xfrm>
            <a:off x="7918704" y="4425696"/>
            <a:ext cx="1216152" cy="347472"/>
          </a:xfrm>
          <a:prstGeom prst="roundRect">
            <a:avLst/>
          </a:prstGeom>
          <a:solidFill>
            <a:srgbClr val="F8EFE8"/>
          </a:solidFill>
          <a:ln w="12700">
            <a:solidFill>
              <a:srgbClr val="F8EFE8"/>
            </a:solidFill>
            <a:prstDash val="solid"/>
          </a:ln>
        </p:spPr>
      </p:sp>
      <p:sp>
        <p:nvSpPr>
          <p:cNvPr id="36" name="Text 34"/>
          <p:cNvSpPr/>
          <p:nvPr/>
        </p:nvSpPr>
        <p:spPr>
          <a:xfrm>
            <a:off x="7918704" y="4535424"/>
            <a:ext cx="1216152" cy="109728"/>
          </a:xfrm>
          <a:prstGeom prst="rect">
            <a:avLst/>
          </a:prstGeom>
          <a:noFill/>
          <a:ln/>
        </p:spPr>
        <p:txBody>
          <a:bodyPr wrap="square" lIns="0" tIns="0" rIns="0" bIns="0" rtlCol="0" anchor="ctr"/>
          <a:lstStyle/>
          <a:p>
            <a:pPr algn="ctr" indent="0" marL="0">
              <a:buNone/>
            </a:pPr>
            <a:r>
              <a:rPr lang="en-US" sz="800" b="1" spc="80" kern="0" dirty="0">
                <a:solidFill>
                  <a:srgbClr val="8F693C"/>
                </a:solidFill>
                <a:latin typeface="Arial" pitchFamily="34" charset="0"/>
                <a:ea typeface="Arial" pitchFamily="34" charset="-122"/>
                <a:cs typeface="Arial" pitchFamily="34" charset="-120"/>
              </a:rPr>
              <a:t>Desarrollar</a:t>
            </a:r>
            <a:endParaRPr lang="en-US" sz="800" dirty="0"/>
          </a:p>
        </p:txBody>
      </p:sp>
      <p:sp>
        <p:nvSpPr>
          <p:cNvPr id="37" name="Shape 35"/>
          <p:cNvSpPr/>
          <p:nvPr/>
        </p:nvSpPr>
        <p:spPr>
          <a:xfrm>
            <a:off x="9765792" y="1517904"/>
            <a:ext cx="2185416" cy="3511296"/>
          </a:xfrm>
          <a:prstGeom prst="roundRect">
            <a:avLst>
              <a:gd name="adj" fmla="val 3347"/>
            </a:avLst>
          </a:prstGeom>
          <a:solidFill>
            <a:srgbClr val="FFFDFC"/>
          </a:solidFill>
          <a:ln w="11430">
            <a:solidFill>
              <a:srgbClr val="E4D4C3"/>
            </a:solidFill>
            <a:prstDash val="solid"/>
          </a:ln>
        </p:spPr>
      </p:sp>
      <p:sp>
        <p:nvSpPr>
          <p:cNvPr id="38" name="Shape 36"/>
          <p:cNvSpPr/>
          <p:nvPr/>
        </p:nvSpPr>
        <p:spPr>
          <a:xfrm>
            <a:off x="10643616" y="1362456"/>
            <a:ext cx="429768" cy="429768"/>
          </a:xfrm>
          <a:prstGeom prst="ellipse">
            <a:avLst/>
          </a:prstGeom>
          <a:solidFill>
            <a:srgbClr val="B58A4C"/>
          </a:solidFill>
          <a:ln w="12700">
            <a:solidFill>
              <a:srgbClr val="B58A4C"/>
            </a:solidFill>
            <a:prstDash val="solid"/>
          </a:ln>
        </p:spPr>
      </p:sp>
      <p:sp>
        <p:nvSpPr>
          <p:cNvPr id="39" name="Text 37"/>
          <p:cNvSpPr/>
          <p:nvPr/>
        </p:nvSpPr>
        <p:spPr>
          <a:xfrm>
            <a:off x="10643616" y="1426464"/>
            <a:ext cx="429768" cy="201168"/>
          </a:xfrm>
          <a:prstGeom prst="rect">
            <a:avLst/>
          </a:prstGeom>
          <a:noFill/>
          <a:ln/>
        </p:spPr>
        <p:txBody>
          <a:bodyPr wrap="square" lIns="0" tIns="0" rIns="0" bIns="0" rtlCol="0" anchor="ctr"/>
          <a:lstStyle/>
          <a:p>
            <a:pPr algn="ctr" indent="0" marL="0">
              <a:buNone/>
            </a:pPr>
            <a:r>
              <a:rPr lang="en-US" sz="1000" b="1" dirty="0">
                <a:solidFill>
                  <a:srgbClr val="FFFFFF"/>
                </a:solidFill>
                <a:latin typeface="Georgia" pitchFamily="34" charset="0"/>
                <a:ea typeface="Georgia" pitchFamily="34" charset="-122"/>
                <a:cs typeface="Georgia" pitchFamily="34" charset="-120"/>
              </a:rPr>
              <a:t>05</a:t>
            </a:r>
            <a:endParaRPr lang="en-US" sz="1000" dirty="0"/>
          </a:p>
        </p:txBody>
      </p:sp>
      <p:sp>
        <p:nvSpPr>
          <p:cNvPr id="40" name="Text 38"/>
          <p:cNvSpPr/>
          <p:nvPr/>
        </p:nvSpPr>
        <p:spPr>
          <a:xfrm>
            <a:off x="9994392" y="2084832"/>
            <a:ext cx="1728216" cy="182880"/>
          </a:xfrm>
          <a:prstGeom prst="rect">
            <a:avLst/>
          </a:prstGeom>
          <a:noFill/>
          <a:ln/>
        </p:spPr>
        <p:txBody>
          <a:bodyPr wrap="square" lIns="0" tIns="0" rIns="0" bIns="0" rtlCol="0" anchor="ctr"/>
          <a:lstStyle/>
          <a:p>
            <a:pPr algn="ctr" indent="0" marL="0">
              <a:buNone/>
            </a:pPr>
            <a:r>
              <a:rPr lang="en-US" sz="830" b="1" spc="110" kern="0" dirty="0">
                <a:solidFill>
                  <a:srgbClr val="B58A4C"/>
                </a:solidFill>
                <a:latin typeface="Arial" pitchFamily="34" charset="0"/>
                <a:ea typeface="Arial" pitchFamily="34" charset="-122"/>
                <a:cs typeface="Arial" pitchFamily="34" charset="-120"/>
              </a:rPr>
              <a:t>CALIDAD</a:t>
            </a:r>
            <a:endParaRPr lang="en-US" sz="830" dirty="0"/>
          </a:p>
        </p:txBody>
      </p:sp>
      <p:sp>
        <p:nvSpPr>
          <p:cNvPr id="41" name="Shape 39"/>
          <p:cNvSpPr/>
          <p:nvPr/>
        </p:nvSpPr>
        <p:spPr>
          <a:xfrm>
            <a:off x="10424160" y="2478024"/>
            <a:ext cx="868680" cy="0"/>
          </a:xfrm>
          <a:prstGeom prst="line">
            <a:avLst/>
          </a:prstGeom>
          <a:noFill/>
          <a:ln w="11430">
            <a:solidFill>
              <a:srgbClr val="C9A66D"/>
            </a:solidFill>
            <a:prstDash val="solid"/>
          </a:ln>
        </p:spPr>
      </p:sp>
      <p:sp>
        <p:nvSpPr>
          <p:cNvPr id="42" name="Text 40"/>
          <p:cNvSpPr/>
          <p:nvPr/>
        </p:nvSpPr>
        <p:spPr>
          <a:xfrm>
            <a:off x="10040112" y="2679192"/>
            <a:ext cx="1636776" cy="1600200"/>
          </a:xfrm>
          <a:prstGeom prst="rect">
            <a:avLst/>
          </a:prstGeom>
          <a:noFill/>
          <a:ln/>
        </p:spPr>
        <p:txBody>
          <a:bodyPr wrap="square" lIns="381" tIns="381" rIns="381" bIns="381" rtlCol="0" anchor="ctr">
            <a:normAutofit/>
          </a:bodyPr>
          <a:lstStyle/>
          <a:p>
            <a:pPr algn="ctr" indent="0" marL="0">
              <a:buNone/>
            </a:pPr>
            <a:r>
              <a:rPr lang="en-US" sz="1320" b="1" dirty="0">
                <a:solidFill>
                  <a:srgbClr val="1F2225"/>
                </a:solidFill>
                <a:latin typeface="Georgia" pitchFamily="34" charset="0"/>
                <a:ea typeface="Georgia" pitchFamily="34" charset="-122"/>
                <a:cs typeface="Georgia" pitchFamily="34" charset="-120"/>
              </a:rPr>
              <a:t>Ejecutar pruebas QA para validar calidad, usabilidad y cumplimiento de los requerimientos.</a:t>
            </a:r>
            <a:endParaRPr lang="en-US" sz="1320" dirty="0"/>
          </a:p>
        </p:txBody>
      </p:sp>
      <p:sp>
        <p:nvSpPr>
          <p:cNvPr id="43" name="Shape 41"/>
          <p:cNvSpPr/>
          <p:nvPr/>
        </p:nvSpPr>
        <p:spPr>
          <a:xfrm>
            <a:off x="10250424" y="4425696"/>
            <a:ext cx="1216152" cy="347472"/>
          </a:xfrm>
          <a:prstGeom prst="roundRect">
            <a:avLst/>
          </a:prstGeom>
          <a:solidFill>
            <a:srgbClr val="F8EFE8"/>
          </a:solidFill>
          <a:ln w="12700">
            <a:solidFill>
              <a:srgbClr val="F8EFE8"/>
            </a:solidFill>
            <a:prstDash val="solid"/>
          </a:ln>
        </p:spPr>
      </p:sp>
      <p:sp>
        <p:nvSpPr>
          <p:cNvPr id="44" name="Text 42"/>
          <p:cNvSpPr/>
          <p:nvPr/>
        </p:nvSpPr>
        <p:spPr>
          <a:xfrm>
            <a:off x="10250424" y="4535424"/>
            <a:ext cx="1216152" cy="109728"/>
          </a:xfrm>
          <a:prstGeom prst="rect">
            <a:avLst/>
          </a:prstGeom>
          <a:noFill/>
          <a:ln/>
        </p:spPr>
        <p:txBody>
          <a:bodyPr wrap="square" lIns="0" tIns="0" rIns="0" bIns="0" rtlCol="0" anchor="ctr"/>
          <a:lstStyle/>
          <a:p>
            <a:pPr algn="ctr" indent="0" marL="0">
              <a:buNone/>
            </a:pPr>
            <a:r>
              <a:rPr lang="en-US" sz="800" b="1" spc="80" kern="0" dirty="0">
                <a:solidFill>
                  <a:srgbClr val="8F693C"/>
                </a:solidFill>
                <a:latin typeface="Arial" pitchFamily="34" charset="0"/>
                <a:ea typeface="Arial" pitchFamily="34" charset="-122"/>
                <a:cs typeface="Arial" pitchFamily="34" charset="-120"/>
              </a:rPr>
              <a:t>Validar</a:t>
            </a:r>
            <a:endParaRPr lang="en-US" sz="800" dirty="0"/>
          </a:p>
        </p:txBody>
      </p:sp>
      <p:sp>
        <p:nvSpPr>
          <p:cNvPr id="45" name="Shape 43"/>
          <p:cNvSpPr/>
          <p:nvPr/>
        </p:nvSpPr>
        <p:spPr>
          <a:xfrm>
            <a:off x="932688" y="5358384"/>
            <a:ext cx="10332720" cy="603504"/>
          </a:xfrm>
          <a:prstGeom prst="roundRect">
            <a:avLst>
              <a:gd name="adj" fmla="val 12121"/>
            </a:avLst>
          </a:prstGeom>
          <a:solidFill>
            <a:srgbClr val="F8EFE8"/>
          </a:solidFill>
          <a:ln w="11430">
            <a:solidFill>
              <a:srgbClr val="F8EFE8"/>
            </a:solidFill>
            <a:prstDash val="solid"/>
          </a:ln>
        </p:spPr>
      </p:sp>
      <p:sp>
        <p:nvSpPr>
          <p:cNvPr id="46" name="Text 44"/>
          <p:cNvSpPr/>
          <p:nvPr/>
        </p:nvSpPr>
        <p:spPr>
          <a:xfrm>
            <a:off x="1234440" y="5568696"/>
            <a:ext cx="1645920" cy="146304"/>
          </a:xfrm>
          <a:prstGeom prst="rect">
            <a:avLst/>
          </a:prstGeom>
          <a:noFill/>
          <a:ln/>
        </p:spPr>
        <p:txBody>
          <a:bodyPr wrap="square" lIns="0" tIns="0" rIns="0" bIns="0" rtlCol="0" anchor="ctr"/>
          <a:lstStyle/>
          <a:p>
            <a:pPr indent="0" marL="0">
              <a:buNone/>
            </a:pPr>
            <a:r>
              <a:rPr lang="en-US" sz="800" b="1" spc="100" kern="0" dirty="0">
                <a:solidFill>
                  <a:srgbClr val="B58A4C"/>
                </a:solidFill>
                <a:latin typeface="Arial" pitchFamily="34" charset="0"/>
                <a:ea typeface="Arial" pitchFamily="34" charset="-122"/>
                <a:cs typeface="Arial" pitchFamily="34" charset="-120"/>
              </a:rPr>
              <a:t>RUTA DEL PROYECTO</a:t>
            </a:r>
            <a:endParaRPr lang="en-US" sz="800" dirty="0"/>
          </a:p>
        </p:txBody>
      </p:sp>
      <p:sp>
        <p:nvSpPr>
          <p:cNvPr id="47" name="Text 45"/>
          <p:cNvSpPr/>
          <p:nvPr/>
        </p:nvSpPr>
        <p:spPr>
          <a:xfrm>
            <a:off x="2880360" y="5477256"/>
            <a:ext cx="8001000" cy="265176"/>
          </a:xfrm>
          <a:prstGeom prst="rect">
            <a:avLst/>
          </a:prstGeom>
          <a:noFill/>
          <a:ln/>
        </p:spPr>
        <p:txBody>
          <a:bodyPr wrap="square" lIns="0" tIns="0" rIns="0" bIns="0" rtlCol="0" anchor="ctr"/>
          <a:lstStyle/>
          <a:p>
            <a:pPr algn="ctr" indent="0" marL="0">
              <a:buNone/>
            </a:pPr>
            <a:r>
              <a:rPr lang="en-US" sz="1360" b="1" dirty="0">
                <a:solidFill>
                  <a:srgbClr val="1F2225"/>
                </a:solidFill>
                <a:latin typeface="Georgia" pitchFamily="34" charset="0"/>
                <a:ea typeface="Georgia" pitchFamily="34" charset="-122"/>
                <a:cs typeface="Georgia" pitchFamily="34" charset="-120"/>
              </a:rPr>
              <a:t>Requisitos  →  Datos  →  Frontend  →  Backend  →  Calidad</a:t>
            </a:r>
            <a:endParaRPr lang="en-US" sz="1360" dirty="0"/>
          </a:p>
        </p:txBody>
      </p:sp>
      <p:sp>
        <p:nvSpPr>
          <p:cNvPr id="25" name="Slide Number Placeholder 0"/>
          <p:cNvSpPr>
            <a:spLocks noGrp="1"/>
          </p:cNvSpPr>
          <p:nvPr>
            <p:ph type="sldNum" sz="quarter" idx="4294967295"/>
          </p:nvPr>
        </p:nvSpPr>
        <p:spPr>
          <a:xfrm>
            <a:off x="11759184" y="22860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B4905D"/>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Nicolett Studio Fantasy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Plataforma Integral de Agendamiento y Gestión de Clientes (CRM)</dc:title>
  <dc:subject>Presentación breve Proyecto APT - Nicolett Studio Fantasy</dc:subject>
  <dc:creator>OpenAI</dc:creator>
  <cp:lastModifiedBy>OpenAI</cp:lastModifiedBy>
  <cp:revision>1</cp:revision>
  <dcterms:created xsi:type="dcterms:W3CDTF">2026-09-09T22:49:31Z</dcterms:created>
  <dcterms:modified xsi:type="dcterms:W3CDTF">2026-09-09T22:49:31Z</dcterms:modified>
</cp:coreProperties>
</file>